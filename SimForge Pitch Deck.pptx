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Rubik"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0:20. Say it in one breath: "Engineers lose days setting up a stress check. With SimForge you import the part, say where it is going, and describe the test in a sentence. Ansys does the solve and you get a safety factor for the Moon, Mars or orbit." Then name the team. The picture is the real app result for the cantilever beam: peak stress 109 MPa at the support, 93 MPa and a safety factor of 2.96 away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to 0:45. Gravity changes the load, pressure pushes on every wall, and setting up a check by hand takes expertise. The same 500 kg rack loads its mount about 2.3 times harder on Mars than on the Moon (3.73 divided by 1.62). The photo is an ISS hatch in NASA's ground trainer, so say "an ISS hatch in NASA's training mock-up", not "on the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 1:15. Tie the project to the prompt. Hostile environments: real gravity and outside pressure for six worlds plus free space, from NASA fact sheets. Habitat metrics: ISS-type, lunar and Mars cabin pressures from NASA documents. Survival: every result states what a failure means for the crew, and a hatch result compares the cabin pressure with NASA's 5.0 to 15.0 psia range for indefinite crew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to 1:40. Four steps: describe, propose, confirm, analyze. Stress the confirmation step: the screenshot shows the fixed end in blue, the load arrow in orange, and every value editable on the card before anything runs. In this shot the support was picked by clicking the model, which is why the tag reads Picked by you. Gemini only proposes. You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to 2:10. Walk left to right. The browser draws the model. A Python server reads the STEP file. Gemini turns your sentence into a proposal. A mesher cuts the part into tiny four-sided blocks, and Ansys solves the stress in each block. Then the three cards: a dial that trades detail for speed, automatic repair of bad blocks on curved parts, and backups so the demo keeps working if one piece fails. Keep it light. Do not read the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to 2:30. SolidWorks is a great tool, but you set up every load, fixture and material by hand, and you look up each world's gravity yourself. SimForge does the setup from a sentence and tells you pass, below target or fail. The right side lists the usual steps of a SolidWorks static study, so the audience can count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2:50. Safety factor is yield strength divided by peak von Mises stress. Below 1 the part yields. From 1 to 1.4 it holds but with too little margin. 1.4 to 2 is our acceptable band. Above 2 it passes but is heavier than it needs to be. The band is our own requirement, not a building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to 5:40. Run the demo live. Before you start, restart the backend and check /api/health. Import Cantilever beam.STEP, type the Moon, click the Try suggestion under the chat box, check the highlighted faces, and run it at Fine mesh detail. Read out the safety factor and the stress away from the support (about 93 MPa). If there is time, import hex flange nut_am.STEP and run its Try suggestion: a bolt pulls on the threaded bore, so the force is shared by two faces. If Ansys stalls, play the backup recording and say it is a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to 6:20. This is how we know the number is right. The beam is a textbook case: stress is 6FL over bh squared, deflection is FL cubed over 3EI. Ansys got 1.85 mm against 1.86 mm by hand, and 93 MPa against 96 MPa. The stress is read away from the fixed end because a perfectly rigid support overstates it. The edge reading of 109 MPa is a known artifact of a perfectly rigid support, and the app shows both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to 6:50. The AI proposes surfaces, a load direction and a starting material, which the card marks as assumed by the AI so the user checks it, and it reads the numbers the user wrote. It never sets the gravity, the pressure, the material values or the safety factor. Those come from NASA files, datasheets and the solver. Point at the result card: the numbers come from Ansys, and the crew text comes from NASA values. Gemini only picked the faces and read the numbers you wrote. If Gemini 3.8 is busy, Gemini 3.5 Flash-Lite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 to 7:30. Three groups who need a quick structural check but not a simulation specialist: student teams, small aerospace startups and engineers new to simulation. Then point at the picture: the same L bracket and the same 30 kg load. Peak stress is 87 MPa on the Moon and 199 MPa on Mars, about 2.3 times higher, matching the ratio of the two gravities. The Moon passes with a safety factor of 3.19, and Mars falls to 1.38, below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to 8:00. Thank the judges. Leave this slide up for questions. Likely questions: what the AI does versus Ansys, how we know the result is right (the beam check), and what is not covered yet (linear static analysis only, no contact, bolts, thermal or buckling).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61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2F0E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F2F0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61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2F0E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F2F0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800" y="1262658"/>
            <a:ext cx="5546344"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873A"/>
                </a:solidFill>
                <a:latin typeface="IBM Plex Sans" pitchFamily="34" charset="0"/>
                <a:ea typeface="IBM Plex Sans" pitchFamily="34" charset="-122"/>
                <a:cs typeface="IBM Plex Sans" pitchFamily="34" charset="-120"/>
              </a:rPr>
              <a:t>LIFE IN SPACE · TEAM 97070 · GEAUX HACK 2026</a:t>
            </a:r>
            <a:endParaRPr lang="en-US" sz="1400" dirty="0"/>
          </a:p>
        </p:txBody>
      </p:sp>
      <p:sp>
        <p:nvSpPr>
          <p:cNvPr id="3" name="Text 1"/>
          <p:cNvSpPr/>
          <p:nvPr>
            <p:ph type="title"/>
          </p:nvPr>
        </p:nvSpPr>
        <p:spPr>
          <a:xfrm>
            <a:off x="812800" y="1714698"/>
            <a:ext cx="5546344" cy="985441"/>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2F0EA"/>
                </a:solidFill>
                <a:latin typeface="Rubik" pitchFamily="34" charset="0"/>
                <a:ea typeface="Rubik" pitchFamily="34" charset="-122"/>
                <a:cs typeface="Rubik" pitchFamily="34" charset="-120"/>
              </a:rPr>
              <a:t>SimForge</a:t>
            </a:r>
            <a:endParaRPr lang="en-US" sz="7200" dirty="0"/>
          </a:p>
        </p:txBody>
      </p:sp>
      <p:sp>
        <p:nvSpPr>
          <p:cNvPr id="4" name="Text 2"/>
          <p:cNvSpPr/>
          <p:nvPr/>
        </p:nvSpPr>
        <p:spPr>
          <a:xfrm>
            <a:off x="812800" y="2877939"/>
            <a:ext cx="5546344" cy="87868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F2F0EA"/>
                </a:solidFill>
                <a:latin typeface="Rubik" pitchFamily="34" charset="0"/>
                <a:ea typeface="Rubik" pitchFamily="34" charset="-122"/>
                <a:cs typeface="Rubik" pitchFamily="34" charset="-120"/>
              </a:rPr>
              <a:t>Will this part hold on the Moon? Ask in one sentence.</a:t>
            </a:r>
            <a:endParaRPr lang="en-US" sz="2800" dirty="0"/>
          </a:p>
        </p:txBody>
      </p:sp>
      <p:sp>
        <p:nvSpPr>
          <p:cNvPr id="5" name="Text 3"/>
          <p:cNvSpPr/>
          <p:nvPr/>
        </p:nvSpPr>
        <p:spPr>
          <a:xfrm>
            <a:off x="812800" y="3934420"/>
            <a:ext cx="5546344" cy="98534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8C0CC"/>
                </a:solidFill>
                <a:latin typeface="IBM Plex Sans" pitchFamily="34" charset="0"/>
                <a:ea typeface="IBM Plex Sans" pitchFamily="34" charset="-122"/>
                <a:cs typeface="IBM Plex Sans" pitchFamily="34" charset="-120"/>
              </a:rPr>
              <a:t>Import a STEP file, name the destination, and describe the test. SimForge sets up the Ansys analysis and returns a safety factor in minutes.</a:t>
            </a:r>
            <a:endParaRPr lang="en-US" sz="1800" dirty="0"/>
          </a:p>
        </p:txBody>
      </p:sp>
      <p:sp>
        <p:nvSpPr>
          <p:cNvPr id="6" name="Text 4"/>
          <p:cNvSpPr/>
          <p:nvPr/>
        </p:nvSpPr>
        <p:spPr>
          <a:xfrm>
            <a:off x="812800" y="5097562"/>
            <a:ext cx="554634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9AAA"/>
                </a:solidFill>
                <a:latin typeface="IBM Plex Sans" pitchFamily="34" charset="0"/>
                <a:ea typeface="IBM Plex Sans" pitchFamily="34" charset="-122"/>
                <a:cs typeface="IBM Plex Sans" pitchFamily="34" charset="-120"/>
              </a:rPr>
              <a:t>Arav Gandhi · Kevin Guo · Braxton Anderson · Amr Mohieldin · Jeremy Lin</a:t>
            </a:r>
            <a:endParaRPr lang="en-US" sz="1400" dirty="0"/>
          </a:p>
        </p:txBody>
      </p:sp>
      <p:pic>
        <p:nvPicPr>
          <p:cNvPr id="7" name="Image 0" descr="SimForge result for the cantilever beam: stress colors on the 3D model, safety factor 2.52, and 2.96 away from the supports">    </p:cNvPr>
          <p:cNvPicPr>
            <a:picLocks noChangeAspect="1"/>
          </p:cNvPicPr>
          <p:nvPr/>
        </p:nvPicPr>
        <p:blipFill>
          <a:blip r:embed="rId1"/>
          <a:srcRect l="-72" r="-72" t="0" b="0"/>
          <a:stretch/>
        </p:blipFill>
        <p:spPr>
          <a:xfrm>
            <a:off x="6819900" y="1651000"/>
            <a:ext cx="4546600" cy="3556000"/>
          </a:xfrm>
          <a:prstGeom prst="roundRect">
            <a:avLst>
              <a:gd name="adj" fmla="val 3929"/>
            </a:avLst>
          </a:prstGeom>
        </p:spPr>
      </p:pic>
      <p:sp>
        <p:nvSpPr>
          <p:cNvPr id="8" name="Shape 5"/>
          <p:cNvSpPr/>
          <p:nvPr/>
        </p:nvSpPr>
        <p:spPr>
          <a:xfrm>
            <a:off x="6813550" y="1644650"/>
            <a:ext cx="4559300" cy="3568700"/>
          </a:xfrm>
          <a:prstGeom prst="roundRect">
            <a:avLst>
              <a:gd name="adj" fmla="val 4093"/>
            </a:avLst>
          </a:prstGeom>
          <a:noFill/>
          <a:ln w="12700">
            <a:solidFill>
              <a:srgbClr val="2C344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744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61D"/>
                </a:solidFill>
                <a:latin typeface="Rubik" pitchFamily="34" charset="0"/>
                <a:ea typeface="Rubik" pitchFamily="34" charset="-122"/>
                <a:cs typeface="Rubik" pitchFamily="34" charset="-120"/>
              </a:rPr>
              <a:t>A habitat only works if its structure holds</a:t>
            </a:r>
            <a:endParaRPr lang="en-US" sz="3600" dirty="0"/>
          </a:p>
        </p:txBody>
      </p:sp>
      <p:sp>
        <p:nvSpPr>
          <p:cNvPr id="3" name="Shape 1"/>
          <p:cNvSpPr/>
          <p:nvPr/>
        </p:nvSpPr>
        <p:spPr>
          <a:xfrm>
            <a:off x="815975" y="1622822"/>
            <a:ext cx="6597650" cy="1299567"/>
          </a:xfrm>
          <a:prstGeom prst="roundRect">
            <a:avLst>
              <a:gd name="adj" fmla="val 9528"/>
            </a:avLst>
          </a:prstGeom>
          <a:solidFill>
            <a:srgbClr val="FBFAF7"/>
          </a:solidFill>
          <a:ln w="6350">
            <a:solidFill>
              <a:srgbClr val="D9D6CE"/>
            </a:solidFill>
            <a:prstDash val="solid"/>
          </a:ln>
        </p:spPr>
      </p:sp>
      <p:sp>
        <p:nvSpPr>
          <p:cNvPr id="4" name="Text 2"/>
          <p:cNvSpPr/>
          <p:nvPr/>
        </p:nvSpPr>
        <p:spPr>
          <a:xfrm>
            <a:off x="1022350" y="1829197"/>
            <a:ext cx="6370447" cy="329406"/>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30F"/>
                </a:solidFill>
                <a:latin typeface="Rubik" pitchFamily="34" charset="0"/>
                <a:ea typeface="Rubik" pitchFamily="34" charset="-122"/>
                <a:cs typeface="Rubik" pitchFamily="34" charset="-120"/>
              </a:rPr>
              <a:t>Gravity changes</a:t>
            </a:r>
            <a:endParaRPr lang="en-US" sz="2000" dirty="0"/>
          </a:p>
        </p:txBody>
      </p:sp>
      <p:sp>
        <p:nvSpPr>
          <p:cNvPr id="5" name="Text 3"/>
          <p:cNvSpPr/>
          <p:nvPr/>
        </p:nvSpPr>
        <p:spPr>
          <a:xfrm>
            <a:off x="1022350" y="2184003"/>
            <a:ext cx="6370447" cy="55741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260"/>
                </a:solidFill>
                <a:latin typeface="IBM Plex Sans" pitchFamily="34" charset="0"/>
                <a:ea typeface="IBM Plex Sans" pitchFamily="34" charset="-122"/>
                <a:cs typeface="IBM Plex Sans" pitchFamily="34" charset="-120"/>
              </a:rPr>
              <a:t>Moon 1.62 m/s², Mars 3.73 m/s². The same 500 kg rack loads its mount about 2.3 times harder on Mars.</a:t>
            </a:r>
            <a:endParaRPr lang="en-US" sz="1500" dirty="0"/>
          </a:p>
        </p:txBody>
      </p:sp>
      <p:sp>
        <p:nvSpPr>
          <p:cNvPr id="6" name="Shape 4"/>
          <p:cNvSpPr/>
          <p:nvPr/>
        </p:nvSpPr>
        <p:spPr>
          <a:xfrm>
            <a:off x="815975" y="3081139"/>
            <a:ext cx="6597650" cy="1299468"/>
          </a:xfrm>
          <a:prstGeom prst="roundRect">
            <a:avLst>
              <a:gd name="adj" fmla="val 9529"/>
            </a:avLst>
          </a:prstGeom>
          <a:solidFill>
            <a:srgbClr val="FBFAF7"/>
          </a:solidFill>
          <a:ln w="6350">
            <a:solidFill>
              <a:srgbClr val="D9D6CE"/>
            </a:solidFill>
            <a:prstDash val="solid"/>
          </a:ln>
        </p:spPr>
      </p:sp>
      <p:sp>
        <p:nvSpPr>
          <p:cNvPr id="7" name="Text 5"/>
          <p:cNvSpPr/>
          <p:nvPr/>
        </p:nvSpPr>
        <p:spPr>
          <a:xfrm>
            <a:off x="1022350" y="3287514"/>
            <a:ext cx="6370447" cy="329406"/>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30F"/>
                </a:solidFill>
                <a:latin typeface="Rubik" pitchFamily="34" charset="0"/>
                <a:ea typeface="Rubik" pitchFamily="34" charset="-122"/>
                <a:cs typeface="Rubik" pitchFamily="34" charset="-120"/>
              </a:rPr>
              <a:t>Pressure pushes out</a:t>
            </a:r>
            <a:endParaRPr lang="en-US" sz="2000" dirty="0"/>
          </a:p>
        </p:txBody>
      </p:sp>
      <p:sp>
        <p:nvSpPr>
          <p:cNvPr id="8" name="Text 6"/>
          <p:cNvSpPr/>
          <p:nvPr/>
        </p:nvSpPr>
        <p:spPr>
          <a:xfrm>
            <a:off x="1022350" y="3642320"/>
            <a:ext cx="6370447" cy="55731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260"/>
                </a:solidFill>
                <a:latin typeface="IBM Plex Sans" pitchFamily="34" charset="0"/>
                <a:ea typeface="IBM Plex Sans" pitchFamily="34" charset="-122"/>
                <a:cs typeface="IBM Plex Sans" pitchFamily="34" charset="-120"/>
              </a:rPr>
              <a:t>Every pressurized wall has cabin air on one side and almost nothing on the other.</a:t>
            </a:r>
            <a:endParaRPr lang="en-US" sz="1500" dirty="0"/>
          </a:p>
        </p:txBody>
      </p:sp>
      <p:sp>
        <p:nvSpPr>
          <p:cNvPr id="9" name="Shape 7"/>
          <p:cNvSpPr/>
          <p:nvPr/>
        </p:nvSpPr>
        <p:spPr>
          <a:xfrm>
            <a:off x="815975" y="4539357"/>
            <a:ext cx="6597650" cy="1299468"/>
          </a:xfrm>
          <a:prstGeom prst="roundRect">
            <a:avLst>
              <a:gd name="adj" fmla="val 9529"/>
            </a:avLst>
          </a:prstGeom>
          <a:solidFill>
            <a:srgbClr val="FBFAF7"/>
          </a:solidFill>
          <a:ln w="6350">
            <a:solidFill>
              <a:srgbClr val="D9D6CE"/>
            </a:solidFill>
            <a:prstDash val="solid"/>
          </a:ln>
        </p:spPr>
      </p:sp>
      <p:sp>
        <p:nvSpPr>
          <p:cNvPr id="10" name="Text 8"/>
          <p:cNvSpPr/>
          <p:nvPr/>
        </p:nvSpPr>
        <p:spPr>
          <a:xfrm>
            <a:off x="1022350" y="4745732"/>
            <a:ext cx="6370447" cy="329406"/>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30F"/>
                </a:solidFill>
                <a:latin typeface="Rubik" pitchFamily="34" charset="0"/>
                <a:ea typeface="Rubik" pitchFamily="34" charset="-122"/>
                <a:cs typeface="Rubik" pitchFamily="34" charset="-120"/>
              </a:rPr>
              <a:t>Checks are slow</a:t>
            </a:r>
            <a:endParaRPr lang="en-US" sz="2000" dirty="0"/>
          </a:p>
        </p:txBody>
      </p:sp>
      <p:sp>
        <p:nvSpPr>
          <p:cNvPr id="11" name="Text 9"/>
          <p:cNvSpPr/>
          <p:nvPr/>
        </p:nvSpPr>
        <p:spPr>
          <a:xfrm>
            <a:off x="1022350" y="5100538"/>
            <a:ext cx="6370447" cy="55731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260"/>
                </a:solidFill>
                <a:latin typeface="IBM Plex Sans" pitchFamily="34" charset="0"/>
                <a:ea typeface="IBM Plex Sans" pitchFamily="34" charset="-122"/>
                <a:cs typeface="IBM Plex Sans" pitchFamily="34" charset="-120"/>
              </a:rPr>
              <a:t>Setting up a finite element check by hand takes expertise. We turn it into a conversation.</a:t>
            </a:r>
            <a:endParaRPr lang="en-US" sz="1500" dirty="0"/>
          </a:p>
        </p:txBody>
      </p:sp>
      <p:pic>
        <p:nvPicPr>
          <p:cNvPr id="12" name="Image 0" descr="Front view of an ISS common hatch in NASA's Space Station Systems Trainer">    </p:cNvPr>
          <p:cNvPicPr>
            <a:picLocks noChangeAspect="1"/>
          </p:cNvPicPr>
          <p:nvPr/>
        </p:nvPicPr>
        <p:blipFill>
          <a:blip r:embed="rId1"/>
          <a:srcRect l="0" r="0" t="0" b="0"/>
          <a:stretch/>
        </p:blipFill>
        <p:spPr>
          <a:xfrm>
            <a:off x="7823200" y="1619647"/>
            <a:ext cx="3556000" cy="4064000"/>
          </a:xfrm>
          <a:prstGeom prst="roundRect">
            <a:avLst>
              <a:gd name="adj" fmla="val 4286"/>
            </a:avLst>
          </a:prstGeom>
        </p:spPr>
      </p:pic>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Image: NASA, JSC2001-02112. ISS common hatch in the Space Station Systems Trainer.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Rubik" pitchFamily="34" charset="0"/>
                <a:ea typeface="Rubik" pitchFamily="34" charset="-122"/>
                <a:cs typeface="Rubik" pitchFamily="34" charset="-120"/>
              </a:rPr>
              <a:t>Built for Life in Space</a:t>
            </a:r>
            <a:endParaRPr lang="en-US" sz="3600" dirty="0"/>
          </a:p>
        </p:txBody>
      </p:sp>
      <p:sp>
        <p:nvSpPr>
          <p:cNvPr id="3" name="Text 1"/>
          <p:cNvSpPr/>
          <p:nvPr/>
        </p:nvSpPr>
        <p:spPr>
          <a:xfrm>
            <a:off x="812800" y="151884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E8873A"/>
                </a:solidFill>
                <a:latin typeface="IBM Plex Sans" pitchFamily="34" charset="0"/>
                <a:ea typeface="IBM Plex Sans" pitchFamily="34" charset="-122"/>
                <a:cs typeface="IBM Plex Sans" pitchFamily="34" charset="-120"/>
              </a:rPr>
              <a:t>Help humans sustain life in extreme off-Earth environments</a:t>
            </a:r>
            <a:endParaRPr lang="en-US" sz="2000" dirty="0"/>
          </a:p>
        </p:txBody>
      </p:sp>
      <p:sp>
        <p:nvSpPr>
          <p:cNvPr id="4" name="Shape 2"/>
          <p:cNvSpPr/>
          <p:nvPr/>
        </p:nvSpPr>
        <p:spPr>
          <a:xfrm>
            <a:off x="815975" y="2055416"/>
            <a:ext cx="3414117" cy="1860550"/>
          </a:xfrm>
          <a:prstGeom prst="roundRect">
            <a:avLst>
              <a:gd name="adj" fmla="val 6655"/>
            </a:avLst>
          </a:prstGeom>
          <a:solidFill>
            <a:srgbClr val="1C222C"/>
          </a:solidFill>
          <a:ln w="6350">
            <a:solidFill>
              <a:srgbClr val="2C3441"/>
            </a:solidFill>
            <a:prstDash val="solid"/>
          </a:ln>
        </p:spPr>
      </p:sp>
      <p:sp>
        <p:nvSpPr>
          <p:cNvPr id="5" name="Text 3"/>
          <p:cNvSpPr/>
          <p:nvPr/>
        </p:nvSpPr>
        <p:spPr>
          <a:xfrm>
            <a:off x="1022350" y="2261791"/>
            <a:ext cx="30914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Hostile environments</a:t>
            </a:r>
            <a:endParaRPr lang="en-US" sz="2000" dirty="0"/>
          </a:p>
        </p:txBody>
      </p:sp>
      <p:sp>
        <p:nvSpPr>
          <p:cNvPr id="6" name="Text 4"/>
          <p:cNvSpPr/>
          <p:nvPr/>
        </p:nvSpPr>
        <p:spPr>
          <a:xfrm>
            <a:off x="1022350" y="2642791"/>
            <a:ext cx="309140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0CC"/>
                </a:solidFill>
                <a:latin typeface="IBM Plex Sans" pitchFamily="34" charset="0"/>
                <a:ea typeface="IBM Plex Sans" pitchFamily="34" charset="-122"/>
                <a:cs typeface="IBM Plex Sans" pitchFamily="34" charset="-120"/>
              </a:rPr>
              <a:t>The Moon, Mars, Mercury, Venus, Pluto and free space, each with gravity and outside pressure from NASA fact sheets.</a:t>
            </a:r>
            <a:endParaRPr lang="en-US" sz="1500" dirty="0"/>
          </a:p>
        </p:txBody>
      </p:sp>
      <p:sp>
        <p:nvSpPr>
          <p:cNvPr id="7" name="Shape 5"/>
          <p:cNvSpPr/>
          <p:nvPr/>
        </p:nvSpPr>
        <p:spPr>
          <a:xfrm>
            <a:off x="4388842" y="2055416"/>
            <a:ext cx="3414216" cy="1860550"/>
          </a:xfrm>
          <a:prstGeom prst="roundRect">
            <a:avLst>
              <a:gd name="adj" fmla="val 6655"/>
            </a:avLst>
          </a:prstGeom>
          <a:solidFill>
            <a:srgbClr val="1C222C"/>
          </a:solidFill>
          <a:ln w="6350">
            <a:solidFill>
              <a:srgbClr val="2C3441"/>
            </a:solidFill>
            <a:prstDash val="solid"/>
          </a:ln>
        </p:spPr>
      </p:sp>
      <p:sp>
        <p:nvSpPr>
          <p:cNvPr id="8" name="Text 6"/>
          <p:cNvSpPr/>
          <p:nvPr/>
        </p:nvSpPr>
        <p:spPr>
          <a:xfrm>
            <a:off x="4595217" y="2261791"/>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Habitat metrics</a:t>
            </a:r>
            <a:endParaRPr lang="en-US" sz="2000" dirty="0"/>
          </a:p>
        </p:txBody>
      </p:sp>
      <p:sp>
        <p:nvSpPr>
          <p:cNvPr id="9" name="Text 7"/>
          <p:cNvSpPr/>
          <p:nvPr/>
        </p:nvSpPr>
        <p:spPr>
          <a:xfrm>
            <a:off x="4595217" y="2642791"/>
            <a:ext cx="309151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0CC"/>
                </a:solidFill>
                <a:latin typeface="IBM Plex Sans" pitchFamily="34" charset="0"/>
                <a:ea typeface="IBM Plex Sans" pitchFamily="34" charset="-122"/>
                <a:cs typeface="IBM Plex Sans" pitchFamily="34" charset="-120"/>
              </a:rPr>
              <a:t>Cabin pressures from NASA documents: 14.7 psia ISS-type, 8.0 psia lunar habitat, 7.6 psia Mars habitat.</a:t>
            </a:r>
            <a:endParaRPr lang="en-US" sz="1500" dirty="0"/>
          </a:p>
        </p:txBody>
      </p:sp>
      <p:sp>
        <p:nvSpPr>
          <p:cNvPr id="10" name="Shape 8"/>
          <p:cNvSpPr/>
          <p:nvPr/>
        </p:nvSpPr>
        <p:spPr>
          <a:xfrm>
            <a:off x="7961809" y="2055416"/>
            <a:ext cx="3414216" cy="1860550"/>
          </a:xfrm>
          <a:prstGeom prst="roundRect">
            <a:avLst>
              <a:gd name="adj" fmla="val 6655"/>
            </a:avLst>
          </a:prstGeom>
          <a:solidFill>
            <a:srgbClr val="1C222C"/>
          </a:solidFill>
          <a:ln w="6350">
            <a:solidFill>
              <a:srgbClr val="2C3441"/>
            </a:solidFill>
            <a:prstDash val="solid"/>
          </a:ln>
        </p:spPr>
      </p:sp>
      <p:sp>
        <p:nvSpPr>
          <p:cNvPr id="11" name="Text 9"/>
          <p:cNvSpPr/>
          <p:nvPr/>
        </p:nvSpPr>
        <p:spPr>
          <a:xfrm>
            <a:off x="8168184" y="2261791"/>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Crew consequences</a:t>
            </a:r>
            <a:endParaRPr lang="en-US" sz="2000" dirty="0"/>
          </a:p>
        </p:txBody>
      </p:sp>
      <p:sp>
        <p:nvSpPr>
          <p:cNvPr id="12" name="Text 10"/>
          <p:cNvSpPr/>
          <p:nvPr/>
        </p:nvSpPr>
        <p:spPr>
          <a:xfrm>
            <a:off x="8168184" y="2642791"/>
            <a:ext cx="309151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0CC"/>
                </a:solidFill>
                <a:latin typeface="IBM Plex Sans" pitchFamily="34" charset="0"/>
                <a:ea typeface="IBM Plex Sans" pitchFamily="34" charset="-122"/>
                <a:cs typeface="IBM Plex Sans" pitchFamily="34" charset="-120"/>
              </a:rPr>
              <a:t>Each result says what a failure would mean for the people inside, such as a hatch letting cabin pressure fall.</a:t>
            </a:r>
            <a:endParaRPr lang="en-US" sz="1500" dirty="0"/>
          </a:p>
        </p:txBody>
      </p:sp>
      <p:sp>
        <p:nvSpPr>
          <p:cNvPr id="13" name="Text 11"/>
          <p:cNvSpPr/>
          <p:nvPr/>
        </p:nvSpPr>
        <p:spPr>
          <a:xfrm>
            <a:off x="812800" y="412234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F9AAA"/>
                </a:solidFill>
                <a:latin typeface="IBM Plex Sans" pitchFamily="34" charset="0"/>
                <a:ea typeface="IBM Plex Sans" pitchFamily="34" charset="-122"/>
                <a:cs typeface="IBM Plex Sans" pitchFamily="34" charset="-120"/>
              </a:rPr>
              <a:t>Any other world works too: type its name and give its surface gravity and outside pressure.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Rubik" pitchFamily="34" charset="0"/>
                <a:ea typeface="Rubik" pitchFamily="34" charset="-122"/>
                <a:cs typeface="Rubik" pitchFamily="34" charset="-120"/>
              </a:rPr>
              <a:t>How it works</a:t>
            </a:r>
            <a:endParaRPr lang="en-US" sz="3600" dirty="0"/>
          </a:p>
        </p:txBody>
      </p:sp>
      <p:sp>
        <p:nvSpPr>
          <p:cNvPr id="3" name="Shape 1"/>
          <p:cNvSpPr/>
          <p:nvPr/>
        </p:nvSpPr>
        <p:spPr>
          <a:xfrm>
            <a:off x="815975" y="1572816"/>
            <a:ext cx="3905250" cy="971352"/>
          </a:xfrm>
          <a:prstGeom prst="roundRect">
            <a:avLst>
              <a:gd name="adj" fmla="val 12748"/>
            </a:avLst>
          </a:prstGeom>
          <a:solidFill>
            <a:srgbClr val="1C222C"/>
          </a:solidFill>
          <a:ln w="6350">
            <a:solidFill>
              <a:srgbClr val="2C3441"/>
            </a:solidFill>
            <a:prstDash val="solid"/>
          </a:ln>
        </p:spPr>
      </p:sp>
      <p:sp>
        <p:nvSpPr>
          <p:cNvPr id="4" name="Text 2"/>
          <p:cNvSpPr/>
          <p:nvPr/>
        </p:nvSpPr>
        <p:spPr>
          <a:xfrm>
            <a:off x="971550" y="1862931"/>
            <a:ext cx="3302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73A"/>
                </a:solidFill>
                <a:latin typeface="Rubik" pitchFamily="34" charset="0"/>
                <a:ea typeface="Rubik" pitchFamily="34" charset="-122"/>
                <a:cs typeface="Rubik" pitchFamily="34" charset="-120"/>
              </a:rPr>
              <a:t>1</a:t>
            </a:r>
            <a:endParaRPr lang="en-US" sz="2800" dirty="0"/>
          </a:p>
        </p:txBody>
      </p:sp>
      <p:sp>
        <p:nvSpPr>
          <p:cNvPr id="5" name="Text 3"/>
          <p:cNvSpPr/>
          <p:nvPr/>
        </p:nvSpPr>
        <p:spPr>
          <a:xfrm>
            <a:off x="1377950" y="1702991"/>
            <a:ext cx="32833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Rubik" pitchFamily="34" charset="0"/>
                <a:ea typeface="Rubik" pitchFamily="34" charset="-122"/>
                <a:cs typeface="Rubik" pitchFamily="34" charset="-120"/>
              </a:rPr>
              <a:t>Describe</a:t>
            </a:r>
            <a:endParaRPr lang="en-US" sz="1800" dirty="0"/>
          </a:p>
        </p:txBody>
      </p:sp>
      <p:sp>
        <p:nvSpPr>
          <p:cNvPr id="6" name="Text 4"/>
          <p:cNvSpPr/>
          <p:nvPr/>
        </p:nvSpPr>
        <p:spPr>
          <a:xfrm>
            <a:off x="1377950" y="2002631"/>
            <a:ext cx="328333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Import a STEP file, type a destination, and write the test in plain English.</a:t>
            </a:r>
            <a:endParaRPr lang="en-US" sz="1200" dirty="0"/>
          </a:p>
        </p:txBody>
      </p:sp>
      <p:sp>
        <p:nvSpPr>
          <p:cNvPr id="7" name="Shape 5"/>
          <p:cNvSpPr/>
          <p:nvPr/>
        </p:nvSpPr>
        <p:spPr>
          <a:xfrm>
            <a:off x="815975" y="2652117"/>
            <a:ext cx="3905250" cy="971352"/>
          </a:xfrm>
          <a:prstGeom prst="roundRect">
            <a:avLst>
              <a:gd name="adj" fmla="val 12748"/>
            </a:avLst>
          </a:prstGeom>
          <a:solidFill>
            <a:srgbClr val="1C222C"/>
          </a:solidFill>
          <a:ln w="6350">
            <a:solidFill>
              <a:srgbClr val="2C3441"/>
            </a:solidFill>
            <a:prstDash val="solid"/>
          </a:ln>
        </p:spPr>
      </p:sp>
      <p:sp>
        <p:nvSpPr>
          <p:cNvPr id="8" name="Text 6"/>
          <p:cNvSpPr/>
          <p:nvPr/>
        </p:nvSpPr>
        <p:spPr>
          <a:xfrm>
            <a:off x="971550" y="2942233"/>
            <a:ext cx="3302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73A"/>
                </a:solidFill>
                <a:latin typeface="Rubik" pitchFamily="34" charset="0"/>
                <a:ea typeface="Rubik" pitchFamily="34" charset="-122"/>
                <a:cs typeface="Rubik" pitchFamily="34" charset="-120"/>
              </a:rPr>
              <a:t>2</a:t>
            </a:r>
            <a:endParaRPr lang="en-US" sz="2800" dirty="0"/>
          </a:p>
        </p:txBody>
      </p:sp>
      <p:sp>
        <p:nvSpPr>
          <p:cNvPr id="9" name="Text 7"/>
          <p:cNvSpPr/>
          <p:nvPr/>
        </p:nvSpPr>
        <p:spPr>
          <a:xfrm>
            <a:off x="1377950" y="2782292"/>
            <a:ext cx="32833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Rubik" pitchFamily="34" charset="0"/>
                <a:ea typeface="Rubik" pitchFamily="34" charset="-122"/>
                <a:cs typeface="Rubik" pitchFamily="34" charset="-120"/>
              </a:rPr>
              <a:t>Propose</a:t>
            </a:r>
            <a:endParaRPr lang="en-US" sz="1800" dirty="0"/>
          </a:p>
        </p:txBody>
      </p:sp>
      <p:sp>
        <p:nvSpPr>
          <p:cNvPr id="10" name="Text 8"/>
          <p:cNvSpPr/>
          <p:nvPr/>
        </p:nvSpPr>
        <p:spPr>
          <a:xfrm>
            <a:off x="1377950" y="3081933"/>
            <a:ext cx="328333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Google Gemini picks the fixed faces, the load and the material, and lights them up in 3D.</a:t>
            </a:r>
            <a:endParaRPr lang="en-US" sz="1200" dirty="0"/>
          </a:p>
        </p:txBody>
      </p:sp>
      <p:sp>
        <p:nvSpPr>
          <p:cNvPr id="11" name="Shape 9"/>
          <p:cNvSpPr/>
          <p:nvPr/>
        </p:nvSpPr>
        <p:spPr>
          <a:xfrm>
            <a:off x="815975" y="3731419"/>
            <a:ext cx="3905250" cy="971352"/>
          </a:xfrm>
          <a:prstGeom prst="roundRect">
            <a:avLst>
              <a:gd name="adj" fmla="val 12748"/>
            </a:avLst>
          </a:prstGeom>
          <a:solidFill>
            <a:srgbClr val="1C222C"/>
          </a:solidFill>
          <a:ln w="6350">
            <a:solidFill>
              <a:srgbClr val="2C3441"/>
            </a:solidFill>
            <a:prstDash val="solid"/>
          </a:ln>
        </p:spPr>
      </p:sp>
      <p:sp>
        <p:nvSpPr>
          <p:cNvPr id="12" name="Text 10"/>
          <p:cNvSpPr/>
          <p:nvPr/>
        </p:nvSpPr>
        <p:spPr>
          <a:xfrm>
            <a:off x="971550" y="4021534"/>
            <a:ext cx="3302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73A"/>
                </a:solidFill>
                <a:latin typeface="Rubik" pitchFamily="34" charset="0"/>
                <a:ea typeface="Rubik" pitchFamily="34" charset="-122"/>
                <a:cs typeface="Rubik" pitchFamily="34" charset="-120"/>
              </a:rPr>
              <a:t>3</a:t>
            </a:r>
            <a:endParaRPr lang="en-US" sz="2800" dirty="0"/>
          </a:p>
        </p:txBody>
      </p:sp>
      <p:sp>
        <p:nvSpPr>
          <p:cNvPr id="13" name="Text 11"/>
          <p:cNvSpPr/>
          <p:nvPr/>
        </p:nvSpPr>
        <p:spPr>
          <a:xfrm>
            <a:off x="1377950" y="3861594"/>
            <a:ext cx="32833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Rubik" pitchFamily="34" charset="0"/>
                <a:ea typeface="Rubik" pitchFamily="34" charset="-122"/>
                <a:cs typeface="Rubik" pitchFamily="34" charset="-120"/>
              </a:rPr>
              <a:t>Confirm</a:t>
            </a:r>
            <a:endParaRPr lang="en-US" sz="1800" dirty="0"/>
          </a:p>
        </p:txBody>
      </p:sp>
      <p:sp>
        <p:nvSpPr>
          <p:cNvPr id="14" name="Text 12"/>
          <p:cNvSpPr/>
          <p:nvPr/>
        </p:nvSpPr>
        <p:spPr>
          <a:xfrm>
            <a:off x="1377950" y="4161234"/>
            <a:ext cx="328333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You check the faces on the model, change any by clicking it, and approve.</a:t>
            </a:r>
            <a:endParaRPr lang="en-US" sz="1200" dirty="0"/>
          </a:p>
        </p:txBody>
      </p:sp>
      <p:sp>
        <p:nvSpPr>
          <p:cNvPr id="15" name="Shape 13"/>
          <p:cNvSpPr/>
          <p:nvPr/>
        </p:nvSpPr>
        <p:spPr>
          <a:xfrm>
            <a:off x="815975" y="4810720"/>
            <a:ext cx="3905250" cy="971352"/>
          </a:xfrm>
          <a:prstGeom prst="roundRect">
            <a:avLst>
              <a:gd name="adj" fmla="val 12748"/>
            </a:avLst>
          </a:prstGeom>
          <a:solidFill>
            <a:srgbClr val="1C222C"/>
          </a:solidFill>
          <a:ln w="6350">
            <a:solidFill>
              <a:srgbClr val="2C3441"/>
            </a:solidFill>
            <a:prstDash val="solid"/>
          </a:ln>
        </p:spPr>
      </p:sp>
      <p:sp>
        <p:nvSpPr>
          <p:cNvPr id="16" name="Text 14"/>
          <p:cNvSpPr/>
          <p:nvPr/>
        </p:nvSpPr>
        <p:spPr>
          <a:xfrm>
            <a:off x="971550" y="5100836"/>
            <a:ext cx="3302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73A"/>
                </a:solidFill>
                <a:latin typeface="Rubik" pitchFamily="34" charset="0"/>
                <a:ea typeface="Rubik" pitchFamily="34" charset="-122"/>
                <a:cs typeface="Rubik" pitchFamily="34" charset="-120"/>
              </a:rPr>
              <a:t>4</a:t>
            </a:r>
            <a:endParaRPr lang="en-US" sz="2800" dirty="0"/>
          </a:p>
        </p:txBody>
      </p:sp>
      <p:sp>
        <p:nvSpPr>
          <p:cNvPr id="17" name="Text 15"/>
          <p:cNvSpPr/>
          <p:nvPr/>
        </p:nvSpPr>
        <p:spPr>
          <a:xfrm>
            <a:off x="1377950" y="4940895"/>
            <a:ext cx="32833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Rubik" pitchFamily="34" charset="0"/>
                <a:ea typeface="Rubik" pitchFamily="34" charset="-122"/>
                <a:cs typeface="Rubik" pitchFamily="34" charset="-120"/>
              </a:rPr>
              <a:t>Analyze</a:t>
            </a:r>
            <a:endParaRPr lang="en-US" sz="1800" dirty="0"/>
          </a:p>
        </p:txBody>
      </p:sp>
      <p:sp>
        <p:nvSpPr>
          <p:cNvPr id="18" name="Text 16"/>
          <p:cNvSpPr/>
          <p:nvPr/>
        </p:nvSpPr>
        <p:spPr>
          <a:xfrm>
            <a:off x="1377950" y="5240536"/>
            <a:ext cx="328333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Ansys cuts the part into tiny pieces and solves the stress in each one.</a:t>
            </a:r>
            <a:endParaRPr lang="en-US" sz="1200" dirty="0"/>
          </a:p>
        </p:txBody>
      </p:sp>
      <p:sp>
        <p:nvSpPr>
          <p:cNvPr id="19" name="Shape 17"/>
          <p:cNvSpPr/>
          <p:nvPr/>
        </p:nvSpPr>
        <p:spPr>
          <a:xfrm>
            <a:off x="5029200" y="1569641"/>
            <a:ext cx="6350000" cy="3759200"/>
          </a:xfrm>
          <a:prstGeom prst="roundRect">
            <a:avLst>
              <a:gd name="adj" fmla="val 2703"/>
            </a:avLst>
          </a:prstGeom>
          <a:solidFill>
            <a:srgbClr val="0F131B"/>
          </a:solidFill>
          <a:ln/>
        </p:spPr>
      </p:sp>
      <p:pic>
        <p:nvPicPr>
          <p:cNvPr id="20" name="Image 0" descr="SimForge confirmation card for the cantilever beam: Flat face 1 fixed, Flat face 3 loaded with 20 N down, the fixed end blue and the load arrow orange on the 3D model">    </p:cNvPr>
          <p:cNvPicPr>
            <a:picLocks noChangeAspect="1"/>
          </p:cNvPicPr>
          <p:nvPr/>
        </p:nvPicPr>
        <p:blipFill>
          <a:blip r:embed="rId1"/>
          <a:srcRect l="0" r="0" t="-56" b="-56"/>
          <a:stretch/>
        </p:blipFill>
        <p:spPr>
          <a:xfrm>
            <a:off x="5029200" y="1569641"/>
            <a:ext cx="6350000" cy="3759200"/>
          </a:xfrm>
          <a:prstGeom prst="roundRect">
            <a:avLst>
              <a:gd name="adj" fmla="val 2703"/>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D"/>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Rubik" pitchFamily="34" charset="0"/>
                <a:ea typeface="Rubik" pitchFamily="34" charset="-122"/>
                <a:cs typeface="Rubik" pitchFamily="34" charset="-120"/>
              </a:rPr>
              <a:t>What happens under the hood</a:t>
            </a:r>
            <a:endParaRPr lang="en-US" sz="3600" dirty="0"/>
          </a:p>
        </p:txBody>
      </p:sp>
      <p:sp>
        <p:nvSpPr>
          <p:cNvPr id="3" name="Shape 1"/>
          <p:cNvSpPr/>
          <p:nvPr/>
        </p:nvSpPr>
        <p:spPr>
          <a:xfrm>
            <a:off x="819150" y="1448991"/>
            <a:ext cx="1755080" cy="1226641"/>
          </a:xfrm>
          <a:prstGeom prst="roundRect">
            <a:avLst>
              <a:gd name="adj" fmla="val 7765"/>
            </a:avLst>
          </a:prstGeom>
          <a:solidFill>
            <a:srgbClr val="1C222C"/>
          </a:solidFill>
          <a:ln w="12700">
            <a:solidFill>
              <a:srgbClr val="E8873A"/>
            </a:solidFill>
            <a:prstDash val="solid"/>
          </a:ln>
        </p:spPr>
      </p:sp>
      <p:sp>
        <p:nvSpPr>
          <p:cNvPr id="4" name="Text 2"/>
          <p:cNvSpPr/>
          <p:nvPr/>
        </p:nvSpPr>
        <p:spPr>
          <a:xfrm>
            <a:off x="965200" y="1595041"/>
            <a:ext cx="1513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0EA"/>
                </a:solidFill>
                <a:latin typeface="Rubik" pitchFamily="34" charset="0"/>
                <a:ea typeface="Rubik" pitchFamily="34" charset="-122"/>
                <a:cs typeface="Rubik" pitchFamily="34" charset="-120"/>
              </a:rPr>
              <a:t>Browser</a:t>
            </a:r>
            <a:endParaRPr lang="en-US" sz="1500" dirty="0"/>
          </a:p>
        </p:txBody>
      </p:sp>
      <p:sp>
        <p:nvSpPr>
          <p:cNvPr id="5" name="Text 3"/>
          <p:cNvSpPr/>
          <p:nvPr/>
        </p:nvSpPr>
        <p:spPr>
          <a:xfrm>
            <a:off x="965200" y="1912541"/>
            <a:ext cx="1513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React and three.js draw the 3D model</a:t>
            </a:r>
            <a:endParaRPr lang="en-US" sz="1200" dirty="0"/>
          </a:p>
        </p:txBody>
      </p:sp>
      <p:sp>
        <p:nvSpPr>
          <p:cNvPr id="6" name="Text 4"/>
          <p:cNvSpPr/>
          <p:nvPr/>
        </p:nvSpPr>
        <p:spPr>
          <a:xfrm>
            <a:off x="2656780" y="1866702"/>
            <a:ext cx="3352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8873A"/>
                </a:solidFill>
                <a:latin typeface="IBM Plex Sans" pitchFamily="34" charset="0"/>
                <a:ea typeface="IBM Plex Sans" pitchFamily="34" charset="-122"/>
                <a:cs typeface="IBM Plex Sans" pitchFamily="34" charset="-120"/>
              </a:rPr>
              <a:t>→</a:t>
            </a:r>
            <a:endParaRPr lang="en-US" sz="2200" dirty="0"/>
          </a:p>
        </p:txBody>
      </p:sp>
      <p:sp>
        <p:nvSpPr>
          <p:cNvPr id="7" name="Shape 5"/>
          <p:cNvSpPr/>
          <p:nvPr/>
        </p:nvSpPr>
        <p:spPr>
          <a:xfrm>
            <a:off x="3018730" y="1448991"/>
            <a:ext cx="1755180" cy="1226641"/>
          </a:xfrm>
          <a:prstGeom prst="roundRect">
            <a:avLst>
              <a:gd name="adj" fmla="val 7765"/>
            </a:avLst>
          </a:prstGeom>
          <a:solidFill>
            <a:srgbClr val="1C222C"/>
          </a:solidFill>
          <a:ln w="12700">
            <a:solidFill>
              <a:srgbClr val="E8873A"/>
            </a:solidFill>
            <a:prstDash val="solid"/>
          </a:ln>
        </p:spPr>
      </p:sp>
      <p:sp>
        <p:nvSpPr>
          <p:cNvPr id="8" name="Text 6"/>
          <p:cNvSpPr/>
          <p:nvPr/>
        </p:nvSpPr>
        <p:spPr>
          <a:xfrm>
            <a:off x="3164780" y="1595041"/>
            <a:ext cx="15138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0EA"/>
                </a:solidFill>
                <a:latin typeface="Rubik" pitchFamily="34" charset="0"/>
                <a:ea typeface="Rubik" pitchFamily="34" charset="-122"/>
                <a:cs typeface="Rubik" pitchFamily="34" charset="-120"/>
              </a:rPr>
              <a:t>Backend</a:t>
            </a:r>
            <a:endParaRPr lang="en-US" sz="1500" dirty="0"/>
          </a:p>
        </p:txBody>
      </p:sp>
      <p:sp>
        <p:nvSpPr>
          <p:cNvPr id="9" name="Text 7"/>
          <p:cNvSpPr/>
          <p:nvPr/>
        </p:nvSpPr>
        <p:spPr>
          <a:xfrm>
            <a:off x="3164780" y="1912541"/>
            <a:ext cx="15138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A Python server (FastAPI) reads the STEP file</a:t>
            </a:r>
            <a:endParaRPr lang="en-US" sz="1200" dirty="0"/>
          </a:p>
        </p:txBody>
      </p:sp>
      <p:sp>
        <p:nvSpPr>
          <p:cNvPr id="10" name="Text 8"/>
          <p:cNvSpPr/>
          <p:nvPr/>
        </p:nvSpPr>
        <p:spPr>
          <a:xfrm>
            <a:off x="4856460" y="1866702"/>
            <a:ext cx="3352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8873A"/>
                </a:solidFill>
                <a:latin typeface="IBM Plex Sans" pitchFamily="34" charset="0"/>
                <a:ea typeface="IBM Plex Sans" pitchFamily="34" charset="-122"/>
                <a:cs typeface="IBM Plex Sans" pitchFamily="34" charset="-120"/>
              </a:rPr>
              <a:t>→</a:t>
            </a:r>
            <a:endParaRPr lang="en-US" sz="2200" dirty="0"/>
          </a:p>
        </p:txBody>
      </p:sp>
      <p:sp>
        <p:nvSpPr>
          <p:cNvPr id="11" name="Shape 9"/>
          <p:cNvSpPr/>
          <p:nvPr/>
        </p:nvSpPr>
        <p:spPr>
          <a:xfrm>
            <a:off x="5218410" y="1448991"/>
            <a:ext cx="1755080" cy="1226641"/>
          </a:xfrm>
          <a:prstGeom prst="roundRect">
            <a:avLst>
              <a:gd name="adj" fmla="val 7765"/>
            </a:avLst>
          </a:prstGeom>
          <a:solidFill>
            <a:srgbClr val="1C222C"/>
          </a:solidFill>
          <a:ln w="12700">
            <a:solidFill>
              <a:srgbClr val="E8873A"/>
            </a:solidFill>
            <a:prstDash val="solid"/>
          </a:ln>
        </p:spPr>
      </p:sp>
      <p:sp>
        <p:nvSpPr>
          <p:cNvPr id="12" name="Text 10"/>
          <p:cNvSpPr/>
          <p:nvPr/>
        </p:nvSpPr>
        <p:spPr>
          <a:xfrm>
            <a:off x="5364460" y="1595041"/>
            <a:ext cx="1513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0EA"/>
                </a:solidFill>
                <a:latin typeface="Rubik" pitchFamily="34" charset="0"/>
                <a:ea typeface="Rubik" pitchFamily="34" charset="-122"/>
                <a:cs typeface="Rubik" pitchFamily="34" charset="-120"/>
              </a:rPr>
              <a:t>Gemini</a:t>
            </a:r>
            <a:endParaRPr lang="en-US" sz="1500" dirty="0"/>
          </a:p>
        </p:txBody>
      </p:sp>
      <p:sp>
        <p:nvSpPr>
          <p:cNvPr id="13" name="Text 11"/>
          <p:cNvSpPr/>
          <p:nvPr/>
        </p:nvSpPr>
        <p:spPr>
          <a:xfrm>
            <a:off x="5364460" y="1912541"/>
            <a:ext cx="15137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Proposes faces, load and material from your sentence</a:t>
            </a:r>
            <a:endParaRPr lang="en-US" sz="1200" dirty="0"/>
          </a:p>
        </p:txBody>
      </p:sp>
      <p:sp>
        <p:nvSpPr>
          <p:cNvPr id="14" name="Text 12"/>
          <p:cNvSpPr/>
          <p:nvPr/>
        </p:nvSpPr>
        <p:spPr>
          <a:xfrm>
            <a:off x="7056041" y="1866702"/>
            <a:ext cx="3352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8873A"/>
                </a:solidFill>
                <a:latin typeface="IBM Plex Sans" pitchFamily="34" charset="0"/>
                <a:ea typeface="IBM Plex Sans" pitchFamily="34" charset="-122"/>
                <a:cs typeface="IBM Plex Sans" pitchFamily="34" charset="-120"/>
              </a:rPr>
              <a:t>→</a:t>
            </a:r>
            <a:endParaRPr lang="en-US" sz="2200" dirty="0"/>
          </a:p>
        </p:txBody>
      </p:sp>
      <p:sp>
        <p:nvSpPr>
          <p:cNvPr id="15" name="Shape 13"/>
          <p:cNvSpPr/>
          <p:nvPr/>
        </p:nvSpPr>
        <p:spPr>
          <a:xfrm>
            <a:off x="7417991" y="1448991"/>
            <a:ext cx="1755180" cy="1226641"/>
          </a:xfrm>
          <a:prstGeom prst="roundRect">
            <a:avLst>
              <a:gd name="adj" fmla="val 7765"/>
            </a:avLst>
          </a:prstGeom>
          <a:solidFill>
            <a:srgbClr val="1C222C"/>
          </a:solidFill>
          <a:ln w="12700">
            <a:solidFill>
              <a:srgbClr val="E8873A"/>
            </a:solidFill>
            <a:prstDash val="solid"/>
          </a:ln>
        </p:spPr>
      </p:sp>
      <p:sp>
        <p:nvSpPr>
          <p:cNvPr id="16" name="Text 14"/>
          <p:cNvSpPr/>
          <p:nvPr/>
        </p:nvSpPr>
        <p:spPr>
          <a:xfrm>
            <a:off x="7564041" y="1595041"/>
            <a:ext cx="15138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0EA"/>
                </a:solidFill>
                <a:latin typeface="Rubik" pitchFamily="34" charset="0"/>
                <a:ea typeface="Rubik" pitchFamily="34" charset="-122"/>
                <a:cs typeface="Rubik" pitchFamily="34" charset="-120"/>
              </a:rPr>
              <a:t>Mesh</a:t>
            </a:r>
            <a:endParaRPr lang="en-US" sz="1500" dirty="0"/>
          </a:p>
        </p:txBody>
      </p:sp>
      <p:sp>
        <p:nvSpPr>
          <p:cNvPr id="17" name="Text 15"/>
          <p:cNvSpPr/>
          <p:nvPr/>
        </p:nvSpPr>
        <p:spPr>
          <a:xfrm>
            <a:off x="7564041" y="1912541"/>
            <a:ext cx="15138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gmsh cuts the part into tiny four-sided blocks</a:t>
            </a:r>
            <a:endParaRPr lang="en-US" sz="1200" dirty="0"/>
          </a:p>
        </p:txBody>
      </p:sp>
      <p:sp>
        <p:nvSpPr>
          <p:cNvPr id="18" name="Text 16"/>
          <p:cNvSpPr/>
          <p:nvPr/>
        </p:nvSpPr>
        <p:spPr>
          <a:xfrm>
            <a:off x="9255720" y="1866702"/>
            <a:ext cx="3352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8873A"/>
                </a:solidFill>
                <a:latin typeface="IBM Plex Sans" pitchFamily="34" charset="0"/>
                <a:ea typeface="IBM Plex Sans" pitchFamily="34" charset="-122"/>
                <a:cs typeface="IBM Plex Sans" pitchFamily="34" charset="-120"/>
              </a:rPr>
              <a:t>→</a:t>
            </a:r>
            <a:endParaRPr lang="en-US" sz="2200" dirty="0"/>
          </a:p>
        </p:txBody>
      </p:sp>
      <p:sp>
        <p:nvSpPr>
          <p:cNvPr id="19" name="Shape 17"/>
          <p:cNvSpPr/>
          <p:nvPr/>
        </p:nvSpPr>
        <p:spPr>
          <a:xfrm>
            <a:off x="9617670" y="1448991"/>
            <a:ext cx="1755180" cy="1226641"/>
          </a:xfrm>
          <a:prstGeom prst="roundRect">
            <a:avLst>
              <a:gd name="adj" fmla="val 7765"/>
            </a:avLst>
          </a:prstGeom>
          <a:solidFill>
            <a:srgbClr val="1C222C"/>
          </a:solidFill>
          <a:ln w="12700">
            <a:solidFill>
              <a:srgbClr val="E8873A"/>
            </a:solidFill>
            <a:prstDash val="solid"/>
          </a:ln>
        </p:spPr>
      </p:sp>
      <p:sp>
        <p:nvSpPr>
          <p:cNvPr id="20" name="Text 18"/>
          <p:cNvSpPr/>
          <p:nvPr/>
        </p:nvSpPr>
        <p:spPr>
          <a:xfrm>
            <a:off x="9763720" y="1595041"/>
            <a:ext cx="15138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0EA"/>
                </a:solidFill>
                <a:latin typeface="Rubik" pitchFamily="34" charset="0"/>
                <a:ea typeface="Rubik" pitchFamily="34" charset="-122"/>
                <a:cs typeface="Rubik" pitchFamily="34" charset="-120"/>
              </a:rPr>
              <a:t>Ansys</a:t>
            </a:r>
            <a:endParaRPr lang="en-US" sz="1500" dirty="0"/>
          </a:p>
        </p:txBody>
      </p:sp>
      <p:sp>
        <p:nvSpPr>
          <p:cNvPr id="21" name="Text 19"/>
          <p:cNvSpPr/>
          <p:nvPr/>
        </p:nvSpPr>
        <p:spPr>
          <a:xfrm>
            <a:off x="9763720" y="1912541"/>
            <a:ext cx="15138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0CC"/>
                </a:solidFill>
                <a:latin typeface="IBM Plex Sans" pitchFamily="34" charset="0"/>
                <a:ea typeface="IBM Plex Sans" pitchFamily="34" charset="-122"/>
                <a:cs typeface="IBM Plex Sans" pitchFamily="34" charset="-120"/>
              </a:rPr>
              <a:t>Solves the stress in every block</a:t>
            </a:r>
            <a:endParaRPr lang="en-US" sz="1200" dirty="0"/>
          </a:p>
        </p:txBody>
      </p:sp>
      <p:sp>
        <p:nvSpPr>
          <p:cNvPr id="22" name="Shape 20"/>
          <p:cNvSpPr/>
          <p:nvPr/>
        </p:nvSpPr>
        <p:spPr>
          <a:xfrm>
            <a:off x="815975" y="2913757"/>
            <a:ext cx="3414117" cy="1377752"/>
          </a:xfrm>
          <a:prstGeom prst="roundRect">
            <a:avLst>
              <a:gd name="adj" fmla="val 8987"/>
            </a:avLst>
          </a:prstGeom>
          <a:solidFill>
            <a:srgbClr val="1C222C"/>
          </a:solidFill>
          <a:ln w="6350">
            <a:solidFill>
              <a:srgbClr val="2C3441"/>
            </a:solidFill>
            <a:prstDash val="solid"/>
          </a:ln>
        </p:spPr>
      </p:sp>
      <p:sp>
        <p:nvSpPr>
          <p:cNvPr id="23" name="Text 21"/>
          <p:cNvSpPr/>
          <p:nvPr/>
        </p:nvSpPr>
        <p:spPr>
          <a:xfrm>
            <a:off x="996950" y="3094732"/>
            <a:ext cx="31437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873A"/>
                </a:solidFill>
                <a:latin typeface="Rubik" pitchFamily="34" charset="0"/>
                <a:ea typeface="Rubik" pitchFamily="34" charset="-122"/>
                <a:cs typeface="Rubik" pitchFamily="34" charset="-120"/>
              </a:rPr>
              <a:t>A dial for detail</a:t>
            </a:r>
            <a:endParaRPr lang="en-US" sz="1700" dirty="0"/>
          </a:p>
        </p:txBody>
      </p:sp>
      <p:sp>
        <p:nvSpPr>
          <p:cNvPr id="24" name="Text 22"/>
          <p:cNvSpPr/>
          <p:nvPr/>
        </p:nvSpPr>
        <p:spPr>
          <a:xfrm>
            <a:off x="996950" y="3417292"/>
            <a:ext cx="314373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0CC"/>
                </a:solidFill>
                <a:latin typeface="IBM Plex Sans" pitchFamily="34" charset="0"/>
                <a:ea typeface="IBM Plex Sans" pitchFamily="34" charset="-122"/>
                <a:cs typeface="IBM Plex Sans" pitchFamily="34" charset="-120"/>
              </a:rPr>
              <a:t>Coarse is about 5,000 blocks and runs fast. Finest is about 65,000 and shows more detail. You choose.</a:t>
            </a:r>
            <a:endParaRPr lang="en-US" sz="1300" dirty="0"/>
          </a:p>
        </p:txBody>
      </p:sp>
      <p:sp>
        <p:nvSpPr>
          <p:cNvPr id="25" name="Shape 23"/>
          <p:cNvSpPr/>
          <p:nvPr/>
        </p:nvSpPr>
        <p:spPr>
          <a:xfrm>
            <a:off x="4388842" y="2913757"/>
            <a:ext cx="3414216" cy="1377752"/>
          </a:xfrm>
          <a:prstGeom prst="roundRect">
            <a:avLst>
              <a:gd name="adj" fmla="val 8987"/>
            </a:avLst>
          </a:prstGeom>
          <a:solidFill>
            <a:srgbClr val="1C222C"/>
          </a:solidFill>
          <a:ln w="6350">
            <a:solidFill>
              <a:srgbClr val="2C3441"/>
            </a:solidFill>
            <a:prstDash val="solid"/>
          </a:ln>
        </p:spPr>
      </p:sp>
      <p:sp>
        <p:nvSpPr>
          <p:cNvPr id="26" name="Text 24"/>
          <p:cNvSpPr/>
          <p:nvPr/>
        </p:nvSpPr>
        <p:spPr>
          <a:xfrm>
            <a:off x="4569817" y="3094732"/>
            <a:ext cx="31438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873A"/>
                </a:solidFill>
                <a:latin typeface="Rubik" pitchFamily="34" charset="0"/>
                <a:ea typeface="Rubik" pitchFamily="34" charset="-122"/>
                <a:cs typeface="Rubik" pitchFamily="34" charset="-120"/>
              </a:rPr>
              <a:t>Self-repairing meshes</a:t>
            </a:r>
            <a:endParaRPr lang="en-US" sz="1700" dirty="0"/>
          </a:p>
        </p:txBody>
      </p:sp>
      <p:sp>
        <p:nvSpPr>
          <p:cNvPr id="27" name="Text 25"/>
          <p:cNvSpPr/>
          <p:nvPr/>
        </p:nvSpPr>
        <p:spPr>
          <a:xfrm>
            <a:off x="4569817" y="3417292"/>
            <a:ext cx="314383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0CC"/>
                </a:solidFill>
                <a:latin typeface="IBM Plex Sans" pitchFamily="34" charset="0"/>
                <a:ea typeface="IBM Plex Sans" pitchFamily="34" charset="-122"/>
                <a:cs typeface="IBM Plex Sans" pitchFamily="34" charset="-120"/>
              </a:rPr>
              <a:t>Curved parts can produce a block Ansys rejects. We straighten its edges automatically so the run continues.</a:t>
            </a:r>
            <a:endParaRPr lang="en-US" sz="1300" dirty="0"/>
          </a:p>
        </p:txBody>
      </p:sp>
      <p:sp>
        <p:nvSpPr>
          <p:cNvPr id="28" name="Shape 26"/>
          <p:cNvSpPr/>
          <p:nvPr/>
        </p:nvSpPr>
        <p:spPr>
          <a:xfrm>
            <a:off x="7961809" y="2913757"/>
            <a:ext cx="3414216" cy="1377752"/>
          </a:xfrm>
          <a:prstGeom prst="roundRect">
            <a:avLst>
              <a:gd name="adj" fmla="val 8987"/>
            </a:avLst>
          </a:prstGeom>
          <a:solidFill>
            <a:srgbClr val="1C222C"/>
          </a:solidFill>
          <a:ln w="6350">
            <a:solidFill>
              <a:srgbClr val="2C3441"/>
            </a:solidFill>
            <a:prstDash val="solid"/>
          </a:ln>
        </p:spPr>
      </p:sp>
      <p:sp>
        <p:nvSpPr>
          <p:cNvPr id="29" name="Text 27"/>
          <p:cNvSpPr/>
          <p:nvPr/>
        </p:nvSpPr>
        <p:spPr>
          <a:xfrm>
            <a:off x="8142784" y="3094732"/>
            <a:ext cx="31438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873A"/>
                </a:solidFill>
                <a:latin typeface="Rubik" pitchFamily="34" charset="0"/>
                <a:ea typeface="Rubik" pitchFamily="34" charset="-122"/>
                <a:cs typeface="Rubik" pitchFamily="34" charset="-120"/>
              </a:rPr>
              <a:t>Backups at every step</a:t>
            </a:r>
            <a:endParaRPr lang="en-US" sz="1700" dirty="0"/>
          </a:p>
        </p:txBody>
      </p:sp>
      <p:sp>
        <p:nvSpPr>
          <p:cNvPr id="30" name="Text 28"/>
          <p:cNvSpPr/>
          <p:nvPr/>
        </p:nvSpPr>
        <p:spPr>
          <a:xfrm>
            <a:off x="8142784" y="3417292"/>
            <a:ext cx="314383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0CC"/>
                </a:solidFill>
                <a:latin typeface="IBM Plex Sans" pitchFamily="34" charset="0"/>
                <a:ea typeface="IBM Plex Sans" pitchFamily="34" charset="-122"/>
                <a:cs typeface="IBM Plex Sans" pitchFamily="34" charset="-120"/>
              </a:rPr>
              <a:t>If Gemini is busy, a lighter model answers. If both fail, plain rules do, and the chat says so.</a:t>
            </a:r>
            <a:endParaRPr lang="en-US" sz="1300" dirty="0"/>
          </a:p>
        </p:txBody>
      </p:sp>
      <p:sp>
        <p:nvSpPr>
          <p:cNvPr id="31" name="Text 29"/>
          <p:cNvSpPr/>
          <p:nvPr/>
        </p:nvSpPr>
        <p:spPr>
          <a:xfrm>
            <a:off x="812800" y="6289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AAA"/>
                </a:solidFill>
                <a:latin typeface="IBM Plex Sans" pitchFamily="34" charset="0"/>
                <a:ea typeface="IBM Plex Sans" pitchFamily="34" charset="-122"/>
                <a:cs typeface="IBM Plex Sans" pitchFamily="34" charset="-120"/>
              </a:rPr>
              <a:t>Ansys Student allows one session at a time. If an old session blocks it, the backend ends the stale one and restarts Ansys by itself.</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61D"/>
                </a:solidFill>
                <a:latin typeface="Rubik" pitchFamily="34" charset="0"/>
                <a:ea typeface="Rubik" pitchFamily="34" charset="-122"/>
                <a:cs typeface="Rubik" pitchFamily="34" charset="-120"/>
              </a:rPr>
              <a:t>SimForge compared with SolidWorks</a:t>
            </a:r>
            <a:endParaRPr lang="en-US" sz="3600" dirty="0"/>
          </a:p>
        </p:txBody>
      </p:sp>
      <p:sp>
        <p:nvSpPr>
          <p:cNvPr id="3" name="Shape 1"/>
          <p:cNvSpPr/>
          <p:nvPr/>
        </p:nvSpPr>
        <p:spPr>
          <a:xfrm>
            <a:off x="815975" y="1522016"/>
            <a:ext cx="5124450" cy="3842841"/>
          </a:xfrm>
          <a:prstGeom prst="roundRect">
            <a:avLst>
              <a:gd name="adj" fmla="val 3222"/>
            </a:avLst>
          </a:prstGeom>
          <a:solidFill>
            <a:srgbClr val="FBFAF7"/>
          </a:solidFill>
          <a:ln w="6350">
            <a:solidFill>
              <a:srgbClr val="D9D6CE"/>
            </a:solidFill>
            <a:prstDash val="solid"/>
          </a:ln>
        </p:spPr>
      </p:sp>
      <p:sp>
        <p:nvSpPr>
          <p:cNvPr id="4" name="Text 2"/>
          <p:cNvSpPr/>
          <p:nvPr/>
        </p:nvSpPr>
        <p:spPr>
          <a:xfrm>
            <a:off x="1022350" y="1728391"/>
            <a:ext cx="48530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30F"/>
                </a:solidFill>
                <a:latin typeface="Rubik" pitchFamily="34" charset="0"/>
                <a:ea typeface="Rubik" pitchFamily="34" charset="-122"/>
                <a:cs typeface="Rubik" pitchFamily="34" charset="-120"/>
              </a:rPr>
              <a:t>SimForge</a:t>
            </a:r>
            <a:endParaRPr lang="en-US" sz="2000" dirty="0"/>
          </a:p>
        </p:txBody>
      </p:sp>
      <p:sp>
        <p:nvSpPr>
          <p:cNvPr id="5" name="Shape 3"/>
          <p:cNvSpPr/>
          <p:nvPr/>
        </p:nvSpPr>
        <p:spPr>
          <a:xfrm>
            <a:off x="1022350" y="2134791"/>
            <a:ext cx="4724400" cy="2228850"/>
          </a:xfrm>
          <a:prstGeom prst="roundRect">
            <a:avLst>
              <a:gd name="adj" fmla="val 3419"/>
            </a:avLst>
          </a:prstGeom>
          <a:solidFill>
            <a:srgbClr val="0F131B"/>
          </a:solidFill>
          <a:ln/>
        </p:spPr>
      </p:sp>
      <p:pic>
        <p:nvPicPr>
          <p:cNvPr id="6" name="Image 0" descr="SimForge result for the hex flange nut: stress colors on the model, safety factor 1.36, and 4.15 away from the supports">    </p:cNvPr>
          <p:cNvPicPr>
            <a:picLocks noChangeAspect="1"/>
          </p:cNvPicPr>
          <p:nvPr/>
        </p:nvPicPr>
        <p:blipFill>
          <a:blip r:embed="rId1"/>
          <a:srcRect l="0" r="0" t="-58" b="-58"/>
          <a:stretch/>
        </p:blipFill>
        <p:spPr>
          <a:xfrm>
            <a:off x="1022350" y="2134791"/>
            <a:ext cx="4724400" cy="2228850"/>
          </a:xfrm>
          <a:prstGeom prst="roundRect">
            <a:avLst>
              <a:gd name="adj" fmla="val 3419"/>
            </a:avLst>
          </a:prstGeom>
        </p:spPr>
      </p:pic>
      <p:sp>
        <p:nvSpPr>
          <p:cNvPr id="7" name="Text 4"/>
          <p:cNvSpPr/>
          <p:nvPr/>
        </p:nvSpPr>
        <p:spPr>
          <a:xfrm>
            <a:off x="1100582" y="4465241"/>
            <a:ext cx="4767199" cy="718641"/>
          </a:xfrm>
          <a:prstGeom prst="rect">
            <a:avLst/>
          </a:prstGeom>
          <a:noFill/>
          <a:ln/>
        </p:spPr>
        <p:txBody>
          <a:bodyPr wrap="square" lIns="0" tIns="0" rIns="0" bIns="0" rtlCol="0" anchor="t">
            <a:normAutofit/>
          </a:bodyPr>
          <a:lstStyle/>
          <a:p>
            <a:pPr algn="l" marL="175768" indent="-175768">
              <a:lnSpc>
                <a:spcPts val="1820"/>
              </a:lnSpc>
              <a:buSzPct val="100000"/>
              <a:buChar char="•"/>
            </a:pPr>
            <a:r>
              <a:rPr lang="en-US" sz="1400" dirty="0">
                <a:solidFill>
                  <a:srgbClr val="4A5260"/>
                </a:solidFill>
                <a:latin typeface="IBM Plex Sans" pitchFamily="34" charset="0"/>
                <a:ea typeface="IBM Plex Sans" pitchFamily="34" charset="-122"/>
                <a:cs typeface="IBM Plex Sans" pitchFamily="34" charset="-120"/>
              </a:rPr>
              <a:t>Describe the test in plain English</a:t>
            </a:r>
            <a:endParaRPr lang="en-US" sz="1400" dirty="0"/>
          </a:p>
          <a:p>
            <a:pPr algn="l" marL="175768" indent="-175768">
              <a:lnSpc>
                <a:spcPts val="1820"/>
              </a:lnSpc>
              <a:buSzPct val="100000"/>
              <a:buChar char="•"/>
            </a:pPr>
            <a:r>
              <a:rPr lang="en-US" sz="1400" dirty="0">
                <a:solidFill>
                  <a:srgbClr val="4A5260"/>
                </a:solidFill>
                <a:latin typeface="IBM Plex Sans" pitchFamily="34" charset="0"/>
                <a:ea typeface="IBM Plex Sans" pitchFamily="34" charset="-122"/>
                <a:cs typeface="IBM Plex Sans" pitchFamily="34" charset="-120"/>
              </a:rPr>
              <a:t>Gravity and pressure filled in per destination</a:t>
            </a:r>
            <a:endParaRPr lang="en-US" sz="1400" dirty="0"/>
          </a:p>
          <a:p>
            <a:pPr algn="l" marL="175768" indent="-175768">
              <a:lnSpc>
                <a:spcPts val="1820"/>
              </a:lnSpc>
              <a:buSzPct val="100000"/>
              <a:buChar char="•"/>
            </a:pPr>
            <a:r>
              <a:rPr lang="en-US" sz="1400" dirty="0">
                <a:solidFill>
                  <a:srgbClr val="4A5260"/>
                </a:solidFill>
                <a:latin typeface="IBM Plex Sans" pitchFamily="34" charset="0"/>
                <a:ea typeface="IBM Plex Sans" pitchFamily="34" charset="-122"/>
                <a:cs typeface="IBM Plex Sans" pitchFamily="34" charset="-120"/>
              </a:rPr>
              <a:t>Verdict plus safety factor in one screen</a:t>
            </a:r>
            <a:endParaRPr lang="en-US" sz="1400" dirty="0"/>
          </a:p>
        </p:txBody>
      </p:sp>
      <p:sp>
        <p:nvSpPr>
          <p:cNvPr id="8" name="Shape 5"/>
          <p:cNvSpPr/>
          <p:nvPr/>
        </p:nvSpPr>
        <p:spPr>
          <a:xfrm>
            <a:off x="6251575" y="1522016"/>
            <a:ext cx="5124450" cy="3842841"/>
          </a:xfrm>
          <a:prstGeom prst="roundRect">
            <a:avLst>
              <a:gd name="adj" fmla="val 3222"/>
            </a:avLst>
          </a:prstGeom>
          <a:solidFill>
            <a:srgbClr val="FBFAF7"/>
          </a:solidFill>
          <a:ln w="6350">
            <a:solidFill>
              <a:srgbClr val="D9D6CE"/>
            </a:solidFill>
            <a:prstDash val="solid"/>
          </a:ln>
        </p:spPr>
      </p:sp>
      <p:sp>
        <p:nvSpPr>
          <p:cNvPr id="9" name="Text 6"/>
          <p:cNvSpPr/>
          <p:nvPr/>
        </p:nvSpPr>
        <p:spPr>
          <a:xfrm>
            <a:off x="6457950" y="1728391"/>
            <a:ext cx="48530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A5260"/>
                </a:solidFill>
                <a:latin typeface="Rubik" pitchFamily="34" charset="0"/>
                <a:ea typeface="Rubik" pitchFamily="34" charset="-122"/>
                <a:cs typeface="Rubik" pitchFamily="34" charset="-120"/>
              </a:rPr>
              <a:t>SolidWorks</a:t>
            </a:r>
            <a:endParaRPr lang="en-US" sz="2000" dirty="0"/>
          </a:p>
        </p:txBody>
      </p:sp>
      <p:sp>
        <p:nvSpPr>
          <p:cNvPr id="10" name="Shape 7"/>
          <p:cNvSpPr/>
          <p:nvPr/>
        </p:nvSpPr>
        <p:spPr>
          <a:xfrm>
            <a:off x="6461125" y="2137966"/>
            <a:ext cx="4718050" cy="2222500"/>
          </a:xfrm>
          <a:prstGeom prst="roundRect">
            <a:avLst>
              <a:gd name="adj" fmla="val 3286"/>
            </a:avLst>
          </a:prstGeom>
          <a:solidFill>
            <a:srgbClr val="E7E4DB"/>
          </a:solidFill>
          <a:ln w="6350">
            <a:solidFill>
              <a:srgbClr val="D9D6CE"/>
            </a:solidFill>
            <a:prstDash val="solid"/>
          </a:ln>
        </p:spPr>
      </p:sp>
      <p:sp>
        <p:nvSpPr>
          <p:cNvPr id="11" name="Text 8"/>
          <p:cNvSpPr/>
          <p:nvPr/>
        </p:nvSpPr>
        <p:spPr>
          <a:xfrm>
            <a:off x="6667500" y="2402780"/>
            <a:ext cx="4434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260"/>
                </a:solidFill>
                <a:latin typeface="IBM Plex Sans" pitchFamily="34" charset="0"/>
                <a:ea typeface="IBM Plex Sans" pitchFamily="34" charset="-122"/>
                <a:cs typeface="IBM Plex Sans" pitchFamily="34" charset="-120"/>
              </a:rPr>
              <a:t>THE MANUAL ROUTE, SIX STEPS</a:t>
            </a:r>
            <a:endParaRPr lang="en-US" sz="1200" dirty="0"/>
          </a:p>
        </p:txBody>
      </p:sp>
      <p:sp>
        <p:nvSpPr>
          <p:cNvPr id="12" name="Text 9"/>
          <p:cNvSpPr/>
          <p:nvPr/>
        </p:nvSpPr>
        <p:spPr>
          <a:xfrm>
            <a:off x="6667500" y="2717701"/>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F"/>
                </a:solidFill>
                <a:latin typeface="Rubik" pitchFamily="34" charset="0"/>
                <a:ea typeface="Rubik" pitchFamily="34" charset="-122"/>
                <a:cs typeface="Rubik" pitchFamily="34" charset="-120"/>
              </a:rPr>
              <a:t>1</a:t>
            </a:r>
            <a:endParaRPr lang="en-US" sz="2000" dirty="0"/>
          </a:p>
        </p:txBody>
      </p:sp>
      <p:sp>
        <p:nvSpPr>
          <p:cNvPr id="13" name="Text 10"/>
          <p:cNvSpPr/>
          <p:nvPr/>
        </p:nvSpPr>
        <p:spPr>
          <a:xfrm>
            <a:off x="7023100" y="2792313"/>
            <a:ext cx="1813084"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2161D"/>
                </a:solidFill>
                <a:latin typeface="IBM Plex Sans" pitchFamily="34" charset="0"/>
                <a:ea typeface="IBM Plex Sans" pitchFamily="34" charset="-122"/>
                <a:cs typeface="IBM Plex Sans" pitchFamily="34" charset="-120"/>
              </a:rPr>
              <a:t>Create a static study</a:t>
            </a:r>
            <a:endParaRPr lang="en-US" sz="1300" dirty="0"/>
          </a:p>
        </p:txBody>
      </p:sp>
      <p:sp>
        <p:nvSpPr>
          <p:cNvPr id="14" name="Text 11"/>
          <p:cNvSpPr/>
          <p:nvPr/>
        </p:nvSpPr>
        <p:spPr>
          <a:xfrm>
            <a:off x="6667500" y="3200301"/>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F"/>
                </a:solidFill>
                <a:latin typeface="Rubik" pitchFamily="34" charset="0"/>
                <a:ea typeface="Rubik" pitchFamily="34" charset="-122"/>
                <a:cs typeface="Rubik" pitchFamily="34" charset="-120"/>
              </a:rPr>
              <a:t>2</a:t>
            </a:r>
            <a:endParaRPr lang="en-US" sz="2000" dirty="0"/>
          </a:p>
        </p:txBody>
      </p:sp>
      <p:sp>
        <p:nvSpPr>
          <p:cNvPr id="15" name="Text 12"/>
          <p:cNvSpPr/>
          <p:nvPr/>
        </p:nvSpPr>
        <p:spPr>
          <a:xfrm>
            <a:off x="7023100" y="3274913"/>
            <a:ext cx="1708071"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2161D"/>
                </a:solidFill>
                <a:latin typeface="IBM Plex Sans" pitchFamily="34" charset="0"/>
                <a:ea typeface="IBM Plex Sans" pitchFamily="34" charset="-122"/>
                <a:cs typeface="IBM Plex Sans" pitchFamily="34" charset="-120"/>
              </a:rPr>
              <a:t>Assign the material</a:t>
            </a:r>
            <a:endParaRPr lang="en-US" sz="1300" dirty="0"/>
          </a:p>
        </p:txBody>
      </p:sp>
      <p:sp>
        <p:nvSpPr>
          <p:cNvPr id="16" name="Text 13"/>
          <p:cNvSpPr/>
          <p:nvPr/>
        </p:nvSpPr>
        <p:spPr>
          <a:xfrm>
            <a:off x="6667500" y="3682901"/>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F"/>
                </a:solidFill>
                <a:latin typeface="Rubik" pitchFamily="34" charset="0"/>
                <a:ea typeface="Rubik" pitchFamily="34" charset="-122"/>
                <a:cs typeface="Rubik" pitchFamily="34" charset="-120"/>
              </a:rPr>
              <a:t>3</a:t>
            </a:r>
            <a:endParaRPr lang="en-US" sz="2000" dirty="0"/>
          </a:p>
        </p:txBody>
      </p:sp>
      <p:sp>
        <p:nvSpPr>
          <p:cNvPr id="17" name="Text 14"/>
          <p:cNvSpPr/>
          <p:nvPr/>
        </p:nvSpPr>
        <p:spPr>
          <a:xfrm>
            <a:off x="7023100" y="3757513"/>
            <a:ext cx="107549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2161D"/>
                </a:solidFill>
                <a:latin typeface="IBM Plex Sans" pitchFamily="34" charset="0"/>
                <a:ea typeface="IBM Plex Sans" pitchFamily="34" charset="-122"/>
                <a:cs typeface="IBM Plex Sans" pitchFamily="34" charset="-120"/>
              </a:rPr>
              <a:t>Add fixtures</a:t>
            </a:r>
            <a:endParaRPr lang="en-US" sz="1300" dirty="0"/>
          </a:p>
        </p:txBody>
      </p:sp>
      <p:sp>
        <p:nvSpPr>
          <p:cNvPr id="18" name="Text 15"/>
          <p:cNvSpPr/>
          <p:nvPr/>
        </p:nvSpPr>
        <p:spPr>
          <a:xfrm>
            <a:off x="8921750" y="2746276"/>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F"/>
                </a:solidFill>
                <a:latin typeface="Rubik" pitchFamily="34" charset="0"/>
                <a:ea typeface="Rubik" pitchFamily="34" charset="-122"/>
                <a:cs typeface="Rubik" pitchFamily="34" charset="-120"/>
              </a:rPr>
              <a:t>4</a:t>
            </a:r>
            <a:endParaRPr lang="en-US" sz="2000" dirty="0"/>
          </a:p>
        </p:txBody>
      </p:sp>
      <p:sp>
        <p:nvSpPr>
          <p:cNvPr id="19" name="Text 16"/>
          <p:cNvSpPr/>
          <p:nvPr/>
        </p:nvSpPr>
        <p:spPr>
          <a:xfrm>
            <a:off x="9277350" y="2717701"/>
            <a:ext cx="185750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2161D"/>
                </a:solidFill>
                <a:latin typeface="IBM Plex Sans" pitchFamily="34" charset="0"/>
                <a:ea typeface="IBM Plex Sans" pitchFamily="34" charset="-122"/>
                <a:cs typeface="IBM Plex Sans" pitchFamily="34" charset="-120"/>
              </a:rPr>
              <a:t>Add loads, look up gravity</a:t>
            </a:r>
            <a:endParaRPr lang="en-US" sz="1300" dirty="0"/>
          </a:p>
        </p:txBody>
      </p:sp>
      <p:sp>
        <p:nvSpPr>
          <p:cNvPr id="20" name="Text 17"/>
          <p:cNvSpPr/>
          <p:nvPr/>
        </p:nvSpPr>
        <p:spPr>
          <a:xfrm>
            <a:off x="8921750" y="3257451"/>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F"/>
                </a:solidFill>
                <a:latin typeface="Rubik" pitchFamily="34" charset="0"/>
                <a:ea typeface="Rubik" pitchFamily="34" charset="-122"/>
                <a:cs typeface="Rubik" pitchFamily="34" charset="-120"/>
              </a:rPr>
              <a:t>5</a:t>
            </a:r>
            <a:endParaRPr lang="en-US" sz="2000" dirty="0"/>
          </a:p>
        </p:txBody>
      </p:sp>
      <p:sp>
        <p:nvSpPr>
          <p:cNvPr id="21" name="Text 18"/>
          <p:cNvSpPr/>
          <p:nvPr/>
        </p:nvSpPr>
        <p:spPr>
          <a:xfrm>
            <a:off x="9277350" y="3332063"/>
            <a:ext cx="1168598"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2161D"/>
                </a:solidFill>
                <a:latin typeface="IBM Plex Sans" pitchFamily="34" charset="0"/>
                <a:ea typeface="IBM Plex Sans" pitchFamily="34" charset="-122"/>
                <a:cs typeface="IBM Plex Sans" pitchFamily="34" charset="-120"/>
              </a:rPr>
              <a:t>Set the mesh</a:t>
            </a:r>
            <a:endParaRPr lang="en-US" sz="1300" dirty="0"/>
          </a:p>
        </p:txBody>
      </p:sp>
      <p:sp>
        <p:nvSpPr>
          <p:cNvPr id="22" name="Text 19"/>
          <p:cNvSpPr/>
          <p:nvPr/>
        </p:nvSpPr>
        <p:spPr>
          <a:xfrm>
            <a:off x="8921750" y="3740051"/>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F"/>
                </a:solidFill>
                <a:latin typeface="Rubik" pitchFamily="34" charset="0"/>
                <a:ea typeface="Rubik" pitchFamily="34" charset="-122"/>
                <a:cs typeface="Rubik" pitchFamily="34" charset="-120"/>
              </a:rPr>
              <a:t>6</a:t>
            </a:r>
            <a:endParaRPr lang="en-US" sz="2000" dirty="0"/>
          </a:p>
        </p:txBody>
      </p:sp>
      <p:sp>
        <p:nvSpPr>
          <p:cNvPr id="23" name="Text 20"/>
          <p:cNvSpPr/>
          <p:nvPr/>
        </p:nvSpPr>
        <p:spPr>
          <a:xfrm>
            <a:off x="9277350" y="3814663"/>
            <a:ext cx="1835587"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2161D"/>
                </a:solidFill>
                <a:latin typeface="IBM Plex Sans" pitchFamily="34" charset="0"/>
                <a:ea typeface="IBM Plex Sans" pitchFamily="34" charset="-122"/>
                <a:cs typeface="IBM Plex Sans" pitchFamily="34" charset="-120"/>
              </a:rPr>
              <a:t>Run, then plot stress</a:t>
            </a:r>
            <a:endParaRPr lang="en-US" sz="1300" dirty="0"/>
          </a:p>
        </p:txBody>
      </p:sp>
      <p:sp>
        <p:nvSpPr>
          <p:cNvPr id="24" name="Text 21"/>
          <p:cNvSpPr/>
          <p:nvPr/>
        </p:nvSpPr>
        <p:spPr>
          <a:xfrm>
            <a:off x="6536182" y="4465241"/>
            <a:ext cx="4767199" cy="718641"/>
          </a:xfrm>
          <a:prstGeom prst="rect">
            <a:avLst/>
          </a:prstGeom>
          <a:noFill/>
          <a:ln/>
        </p:spPr>
        <p:txBody>
          <a:bodyPr wrap="square" lIns="0" tIns="0" rIns="0" bIns="0" rtlCol="0" anchor="t">
            <a:normAutofit/>
          </a:bodyPr>
          <a:lstStyle/>
          <a:p>
            <a:pPr algn="l" marL="175768" indent="-175768">
              <a:lnSpc>
                <a:spcPts val="1820"/>
              </a:lnSpc>
              <a:buSzPct val="100000"/>
              <a:buChar char="•"/>
            </a:pPr>
            <a:r>
              <a:rPr lang="en-US" sz="1400" dirty="0">
                <a:solidFill>
                  <a:srgbClr val="4A5260"/>
                </a:solidFill>
                <a:latin typeface="IBM Plex Sans" pitchFamily="34" charset="0"/>
                <a:ea typeface="IBM Plex Sans" pitchFamily="34" charset="-122"/>
                <a:cs typeface="IBM Plex Sans" pitchFamily="34" charset="-120"/>
              </a:rPr>
              <a:t>Loads, fixtures and materials set up by hand</a:t>
            </a:r>
            <a:endParaRPr lang="en-US" sz="1400" dirty="0"/>
          </a:p>
          <a:p>
            <a:pPr algn="l" marL="175768" indent="-175768">
              <a:lnSpc>
                <a:spcPts val="1820"/>
              </a:lnSpc>
              <a:buSzPct val="100000"/>
              <a:buChar char="•"/>
            </a:pPr>
            <a:r>
              <a:rPr lang="en-US" sz="1400" dirty="0">
                <a:solidFill>
                  <a:srgbClr val="4A5260"/>
                </a:solidFill>
                <a:latin typeface="IBM Plex Sans" pitchFamily="34" charset="0"/>
                <a:ea typeface="IBM Plex Sans" pitchFamily="34" charset="-122"/>
                <a:cs typeface="IBM Plex Sans" pitchFamily="34" charset="-120"/>
              </a:rPr>
              <a:t>Look up each world's gravity and pressure</a:t>
            </a:r>
            <a:endParaRPr lang="en-US" sz="1400" dirty="0"/>
          </a:p>
          <a:p>
            <a:pPr algn="l" marL="175768" indent="-175768">
              <a:lnSpc>
                <a:spcPts val="1820"/>
              </a:lnSpc>
              <a:buSzPct val="100000"/>
              <a:buChar char="•"/>
            </a:pPr>
            <a:r>
              <a:rPr lang="en-US" sz="1400" dirty="0">
                <a:solidFill>
                  <a:srgbClr val="4A5260"/>
                </a:solidFill>
                <a:latin typeface="IBM Plex Sans" pitchFamily="34" charset="0"/>
                <a:ea typeface="IBM Plex Sans" pitchFamily="34" charset="-122"/>
                <a:cs typeface="IBM Plex Sans" pitchFamily="34" charset="-120"/>
              </a:rPr>
              <a:t>Safety factor shown, you judge pass or fail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61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Rubik" pitchFamily="34" charset="0"/>
                <a:ea typeface="Rubik" pitchFamily="34" charset="-122"/>
                <a:cs typeface="Rubik" pitchFamily="34" charset="-120"/>
              </a:rPr>
              <a:t>Safety factor decides the verdict</a:t>
            </a:r>
            <a:endParaRPr lang="en-US" sz="3600" dirty="0"/>
          </a:p>
        </p:txBody>
      </p:sp>
      <p:sp>
        <p:nvSpPr>
          <p:cNvPr id="3" name="Text 1"/>
          <p:cNvSpPr/>
          <p:nvPr/>
        </p:nvSpPr>
        <p:spPr>
          <a:xfrm>
            <a:off x="812800" y="151884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E8873A"/>
                </a:solidFill>
                <a:latin typeface="IBM Plex Sans" pitchFamily="34" charset="0"/>
                <a:ea typeface="IBM Plex Sans" pitchFamily="34" charset="-122"/>
                <a:cs typeface="IBM Plex Sans" pitchFamily="34" charset="-120"/>
              </a:rPr>
              <a:t>Yield strength divided by peak stress</a:t>
            </a:r>
            <a:endParaRPr lang="en-US" sz="2000" dirty="0"/>
          </a:p>
        </p:txBody>
      </p:sp>
      <p:sp>
        <p:nvSpPr>
          <p:cNvPr id="4" name="Shape 2"/>
          <p:cNvSpPr/>
          <p:nvPr/>
        </p:nvSpPr>
        <p:spPr>
          <a:xfrm>
            <a:off x="815975" y="2055416"/>
            <a:ext cx="2517775" cy="2175272"/>
          </a:xfrm>
          <a:prstGeom prst="roundRect">
            <a:avLst>
              <a:gd name="adj" fmla="val 5692"/>
            </a:avLst>
          </a:prstGeom>
          <a:solidFill>
            <a:srgbClr val="1C222C"/>
          </a:solidFill>
          <a:ln w="6350">
            <a:solidFill>
              <a:srgbClr val="2C3441"/>
            </a:solidFill>
            <a:prstDash val="solid"/>
          </a:ln>
        </p:spPr>
      </p:sp>
      <p:sp>
        <p:nvSpPr>
          <p:cNvPr id="5" name="Text 3"/>
          <p:cNvSpPr/>
          <p:nvPr/>
        </p:nvSpPr>
        <p:spPr>
          <a:xfrm>
            <a:off x="1022350" y="2261791"/>
            <a:ext cx="216817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F0EA"/>
                </a:solidFill>
                <a:latin typeface="Rubik" pitchFamily="34" charset="0"/>
                <a:ea typeface="Rubik" pitchFamily="34" charset="-122"/>
                <a:cs typeface="Rubik" pitchFamily="34" charset="-120"/>
              </a:rPr>
              <a:t>Below 1</a:t>
            </a:r>
            <a:endParaRPr lang="en-US" sz="3600" dirty="0"/>
          </a:p>
        </p:txBody>
      </p:sp>
      <p:sp>
        <p:nvSpPr>
          <p:cNvPr id="6" name="Text 4"/>
          <p:cNvSpPr/>
          <p:nvPr/>
        </p:nvSpPr>
        <p:spPr>
          <a:xfrm>
            <a:off x="1022350" y="2840831"/>
            <a:ext cx="21681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Fail</a:t>
            </a:r>
            <a:endParaRPr lang="en-US" sz="2000" dirty="0"/>
          </a:p>
        </p:txBody>
      </p:sp>
      <p:sp>
        <p:nvSpPr>
          <p:cNvPr id="7" name="Text 5"/>
          <p:cNvSpPr/>
          <p:nvPr/>
        </p:nvSpPr>
        <p:spPr>
          <a:xfrm>
            <a:off x="1022350" y="3221831"/>
            <a:ext cx="21681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0CC"/>
                </a:solidFill>
                <a:latin typeface="IBM Plex Sans" pitchFamily="34" charset="0"/>
                <a:ea typeface="IBM Plex Sans" pitchFamily="34" charset="-122"/>
                <a:cs typeface="IBM Plex Sans" pitchFamily="34" charset="-120"/>
              </a:rPr>
              <a:t>The part yields.</a:t>
            </a:r>
            <a:endParaRPr lang="en-US" sz="1400" dirty="0"/>
          </a:p>
        </p:txBody>
      </p:sp>
      <p:sp>
        <p:nvSpPr>
          <p:cNvPr id="8" name="Shape 6"/>
          <p:cNvSpPr/>
          <p:nvPr/>
        </p:nvSpPr>
        <p:spPr>
          <a:xfrm>
            <a:off x="3492500" y="2055416"/>
            <a:ext cx="2517775" cy="2175272"/>
          </a:xfrm>
          <a:prstGeom prst="roundRect">
            <a:avLst>
              <a:gd name="adj" fmla="val 5692"/>
            </a:avLst>
          </a:prstGeom>
          <a:solidFill>
            <a:srgbClr val="1C222C"/>
          </a:solidFill>
          <a:ln w="6350">
            <a:solidFill>
              <a:srgbClr val="2C3441"/>
            </a:solidFill>
            <a:prstDash val="solid"/>
          </a:ln>
        </p:spPr>
      </p:sp>
      <p:sp>
        <p:nvSpPr>
          <p:cNvPr id="9" name="Text 7"/>
          <p:cNvSpPr/>
          <p:nvPr/>
        </p:nvSpPr>
        <p:spPr>
          <a:xfrm>
            <a:off x="3698875" y="2261791"/>
            <a:ext cx="216817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F0EA"/>
                </a:solidFill>
                <a:latin typeface="Rubik" pitchFamily="34" charset="0"/>
                <a:ea typeface="Rubik" pitchFamily="34" charset="-122"/>
                <a:cs typeface="Rubik" pitchFamily="34" charset="-120"/>
              </a:rPr>
              <a:t>1 to 1.4</a:t>
            </a:r>
            <a:endParaRPr lang="en-US" sz="3600" dirty="0"/>
          </a:p>
        </p:txBody>
      </p:sp>
      <p:sp>
        <p:nvSpPr>
          <p:cNvPr id="10" name="Text 8"/>
          <p:cNvSpPr/>
          <p:nvPr/>
        </p:nvSpPr>
        <p:spPr>
          <a:xfrm>
            <a:off x="3698875" y="2840831"/>
            <a:ext cx="21681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Below target</a:t>
            </a:r>
            <a:endParaRPr lang="en-US" sz="2000" dirty="0"/>
          </a:p>
        </p:txBody>
      </p:sp>
      <p:sp>
        <p:nvSpPr>
          <p:cNvPr id="11" name="Text 9"/>
          <p:cNvSpPr/>
          <p:nvPr/>
        </p:nvSpPr>
        <p:spPr>
          <a:xfrm>
            <a:off x="3698875" y="3221831"/>
            <a:ext cx="21681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0CC"/>
                </a:solidFill>
                <a:latin typeface="IBM Plex Sans" pitchFamily="34" charset="0"/>
                <a:ea typeface="IBM Plex Sans" pitchFamily="34" charset="-122"/>
                <a:cs typeface="IBM Plex Sans" pitchFamily="34" charset="-120"/>
              </a:rPr>
              <a:t>Holds, with too little margin.</a:t>
            </a:r>
            <a:endParaRPr lang="en-US" sz="1400" dirty="0"/>
          </a:p>
        </p:txBody>
      </p:sp>
      <p:sp>
        <p:nvSpPr>
          <p:cNvPr id="12" name="Shape 10"/>
          <p:cNvSpPr/>
          <p:nvPr/>
        </p:nvSpPr>
        <p:spPr>
          <a:xfrm>
            <a:off x="6172200" y="2058591"/>
            <a:ext cx="2524125" cy="2168922"/>
          </a:xfrm>
          <a:prstGeom prst="roundRect">
            <a:avLst>
              <a:gd name="adj" fmla="val 5563"/>
            </a:avLst>
          </a:prstGeom>
          <a:solidFill>
            <a:srgbClr val="1C222C"/>
          </a:solidFill>
          <a:ln w="12700">
            <a:solidFill>
              <a:srgbClr val="E8873A"/>
            </a:solidFill>
            <a:prstDash val="solid"/>
          </a:ln>
        </p:spPr>
      </p:sp>
      <p:sp>
        <p:nvSpPr>
          <p:cNvPr id="13" name="Text 11"/>
          <p:cNvSpPr/>
          <p:nvPr/>
        </p:nvSpPr>
        <p:spPr>
          <a:xfrm>
            <a:off x="6381750" y="2268141"/>
            <a:ext cx="216817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8873A"/>
                </a:solidFill>
                <a:latin typeface="Rubik" pitchFamily="34" charset="0"/>
                <a:ea typeface="Rubik" pitchFamily="34" charset="-122"/>
                <a:cs typeface="Rubik" pitchFamily="34" charset="-120"/>
              </a:rPr>
              <a:t>1.4 to 2</a:t>
            </a:r>
            <a:endParaRPr lang="en-US" sz="3600" dirty="0"/>
          </a:p>
        </p:txBody>
      </p:sp>
      <p:sp>
        <p:nvSpPr>
          <p:cNvPr id="14" name="Text 12"/>
          <p:cNvSpPr/>
          <p:nvPr/>
        </p:nvSpPr>
        <p:spPr>
          <a:xfrm>
            <a:off x="6381750" y="2847181"/>
            <a:ext cx="21681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Acceptable</a:t>
            </a:r>
            <a:endParaRPr lang="en-US" sz="2000" dirty="0"/>
          </a:p>
        </p:txBody>
      </p:sp>
      <p:sp>
        <p:nvSpPr>
          <p:cNvPr id="15" name="Text 13"/>
          <p:cNvSpPr/>
          <p:nvPr/>
        </p:nvSpPr>
        <p:spPr>
          <a:xfrm>
            <a:off x="6381750" y="3228181"/>
            <a:ext cx="21681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0CC"/>
                </a:solidFill>
                <a:latin typeface="IBM Plex Sans" pitchFamily="34" charset="0"/>
                <a:ea typeface="IBM Plex Sans" pitchFamily="34" charset="-122"/>
                <a:cs typeface="IBM Plex Sans" pitchFamily="34" charset="-120"/>
              </a:rPr>
              <a:t>Our target band.</a:t>
            </a:r>
            <a:endParaRPr lang="en-US" sz="1400" dirty="0"/>
          </a:p>
        </p:txBody>
      </p:sp>
      <p:sp>
        <p:nvSpPr>
          <p:cNvPr id="16" name="Shape 14"/>
          <p:cNvSpPr/>
          <p:nvPr/>
        </p:nvSpPr>
        <p:spPr>
          <a:xfrm>
            <a:off x="8858250" y="2055416"/>
            <a:ext cx="2517775" cy="2175272"/>
          </a:xfrm>
          <a:prstGeom prst="roundRect">
            <a:avLst>
              <a:gd name="adj" fmla="val 5692"/>
            </a:avLst>
          </a:prstGeom>
          <a:solidFill>
            <a:srgbClr val="1C222C"/>
          </a:solidFill>
          <a:ln w="6350">
            <a:solidFill>
              <a:srgbClr val="2C3441"/>
            </a:solidFill>
            <a:prstDash val="solid"/>
          </a:ln>
        </p:spPr>
      </p:sp>
      <p:sp>
        <p:nvSpPr>
          <p:cNvPr id="17" name="Text 15"/>
          <p:cNvSpPr/>
          <p:nvPr/>
        </p:nvSpPr>
        <p:spPr>
          <a:xfrm>
            <a:off x="9064625" y="2261791"/>
            <a:ext cx="216817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F0EA"/>
                </a:solidFill>
                <a:latin typeface="Rubik" pitchFamily="34" charset="0"/>
                <a:ea typeface="Rubik" pitchFamily="34" charset="-122"/>
                <a:cs typeface="Rubik" pitchFamily="34" charset="-120"/>
              </a:rPr>
              <a:t>Above 2</a:t>
            </a:r>
            <a:endParaRPr lang="en-US" sz="3600" dirty="0"/>
          </a:p>
        </p:txBody>
      </p:sp>
      <p:sp>
        <p:nvSpPr>
          <p:cNvPr id="18" name="Text 16"/>
          <p:cNvSpPr/>
          <p:nvPr/>
        </p:nvSpPr>
        <p:spPr>
          <a:xfrm>
            <a:off x="9064625" y="2840831"/>
            <a:ext cx="2168176"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Rubik" pitchFamily="34" charset="0"/>
                <a:ea typeface="Rubik" pitchFamily="34" charset="-122"/>
                <a:cs typeface="Rubik" pitchFamily="34" charset="-120"/>
              </a:rPr>
              <a:t>Heavier than needed</a:t>
            </a:r>
            <a:endParaRPr lang="en-US" sz="2000" dirty="0"/>
          </a:p>
        </p:txBody>
      </p:sp>
      <p:sp>
        <p:nvSpPr>
          <p:cNvPr id="19" name="Text 17"/>
          <p:cNvSpPr/>
          <p:nvPr/>
        </p:nvSpPr>
        <p:spPr>
          <a:xfrm>
            <a:off x="9064625" y="3526631"/>
            <a:ext cx="21681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0CC"/>
                </a:solidFill>
                <a:latin typeface="IBM Plex Sans" pitchFamily="34" charset="0"/>
                <a:ea typeface="IBM Plex Sans" pitchFamily="34" charset="-122"/>
                <a:cs typeface="IBM Plex Sans" pitchFamily="34" charset="-120"/>
              </a:rPr>
              <a:t>Passes with margin to spare.</a:t>
            </a:r>
            <a:endParaRPr lang="en-US" sz="1400" dirty="0"/>
          </a:p>
        </p:txBody>
      </p:sp>
      <p:sp>
        <p:nvSpPr>
          <p:cNvPr id="20" name="Text 18"/>
          <p:cNvSpPr/>
          <p:nvPr/>
        </p:nvSpPr>
        <p:spPr>
          <a:xfrm>
            <a:off x="812800" y="60757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AAA"/>
                </a:solidFill>
                <a:latin typeface="IBM Plex Sans" pitchFamily="34" charset="0"/>
                <a:ea typeface="IBM Plex Sans" pitchFamily="34" charset="-122"/>
                <a:cs typeface="IBM Plex Sans" pitchFamily="34" charset="-120"/>
              </a:rPr>
              <a:t>The 1.4 to 2 band is our own requirement. For comparison, NASA-STD-5001B asks for 1.4 on ultimate strength and 1.25 on yield for protoflight metallic hardware. We apply 1.4 to yield, which is stricter.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873A"/>
        </a:solidFill>
      </p:bgPr>
    </p:bg>
    <p:spTree>
      <p:nvGrpSpPr>
        <p:cNvPr id="1" name=""/>
        <p:cNvGrpSpPr/>
        <p:nvPr/>
      </p:nvGrpSpPr>
      <p:grpSpPr>
        <a:xfrm>
          <a:off x="0" y="0"/>
          <a:ext cx="0" cy="0"/>
          <a:chOff x="0" y="0"/>
          <a:chExt cx="0" cy="0"/>
        </a:xfrm>
      </p:grpSpPr>
      <p:sp>
        <p:nvSpPr>
          <p:cNvPr id="2" name="Text 0"/>
          <p:cNvSpPr/>
          <p:nvPr/>
        </p:nvSpPr>
        <p:spPr>
          <a:xfrm>
            <a:off x="812800" y="2748359"/>
            <a:ext cx="499694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2161D"/>
                </a:solidFill>
                <a:latin typeface="IBM Plex Sans" pitchFamily="34" charset="0"/>
                <a:ea typeface="IBM Plex Sans" pitchFamily="34" charset="-122"/>
                <a:cs typeface="IBM Plex Sans" pitchFamily="34" charset="-120"/>
              </a:rPr>
              <a:t>LIVE</a:t>
            </a:r>
            <a:endParaRPr lang="en-US" sz="1400" dirty="0"/>
          </a:p>
        </p:txBody>
      </p:sp>
      <p:sp>
        <p:nvSpPr>
          <p:cNvPr id="3" name="Text 1"/>
          <p:cNvSpPr/>
          <p:nvPr>
            <p:ph type="title"/>
          </p:nvPr>
        </p:nvSpPr>
        <p:spPr>
          <a:xfrm>
            <a:off x="812800" y="3149600"/>
            <a:ext cx="4996942" cy="985441"/>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12161D"/>
                </a:solidFill>
                <a:latin typeface="Rubik" pitchFamily="34" charset="0"/>
                <a:ea typeface="Rubik" pitchFamily="34" charset="-122"/>
                <a:cs typeface="Rubik" pitchFamily="34" charset="-120"/>
              </a:rPr>
              <a:t>Demo</a:t>
            </a:r>
            <a:endParaRPr lang="en-US" sz="7200" dirty="0"/>
          </a:p>
        </p:txBody>
      </p:sp>
      <p:sp>
        <p:nvSpPr>
          <p:cNvPr id="4" name="Text 2"/>
          <p:cNvSpPr/>
          <p:nvPr/>
        </p:nvSpPr>
        <p:spPr>
          <a:xfrm>
            <a:off x="6246316" y="2413000"/>
            <a:ext cx="5278426" cy="2057400"/>
          </a:xfrm>
          <a:prstGeom prst="rect">
            <a:avLst/>
          </a:prstGeom>
          <a:noFill/>
          <a:ln/>
        </p:spPr>
        <p:txBody>
          <a:bodyPr wrap="square" lIns="0" tIns="0" rIns="0" bIns="0" rtlCol="0" anchor="t">
            <a:normAutofit/>
          </a:bodyPr>
          <a:lstStyle/>
          <a:p>
            <a:pPr algn="l" marL="281484" indent="-281484">
              <a:lnSpc>
                <a:spcPts val="3200"/>
              </a:lnSpc>
              <a:buSzPct val="100000"/>
              <a:buFontTx/>
              <a:buAutoNum type="arabicPeriod" startAt="1"/>
            </a:pPr>
            <a:r>
              <a:rPr lang="en-US" sz="2000" dirty="0">
                <a:solidFill>
                  <a:srgbClr val="12161D"/>
                </a:solidFill>
                <a:latin typeface="IBM Plex Sans" pitchFamily="34" charset="0"/>
                <a:ea typeface="IBM Plex Sans" pitchFamily="34" charset="-122"/>
                <a:cs typeface="IBM Plex Sans" pitchFamily="34" charset="-120"/>
              </a:rPr>
              <a:t>Import the beam STEP file</a:t>
            </a:r>
            <a:endParaRPr lang="en-US" sz="2000" dirty="0"/>
          </a:p>
          <a:p>
            <a:pPr algn="l" marL="281484" indent="-281484">
              <a:lnSpc>
                <a:spcPts val="3200"/>
              </a:lnSpc>
              <a:buSzPct val="100000"/>
              <a:buFontTx/>
              <a:buAutoNum type="arabicPeriod" startAt="1"/>
            </a:pPr>
            <a:r>
              <a:rPr lang="en-US" sz="2000" dirty="0">
                <a:solidFill>
                  <a:srgbClr val="12161D"/>
                </a:solidFill>
                <a:latin typeface="IBM Plex Sans" pitchFamily="34" charset="0"/>
                <a:ea typeface="IBM Plex Sans" pitchFamily="34" charset="-122"/>
                <a:cs typeface="IBM Plex Sans" pitchFamily="34" charset="-120"/>
              </a:rPr>
              <a:t>Type the destination: the Moon</a:t>
            </a:r>
            <a:endParaRPr lang="en-US" sz="2000" dirty="0"/>
          </a:p>
          <a:p>
            <a:pPr algn="l" marL="281484" indent="-281484">
              <a:lnSpc>
                <a:spcPts val="3200"/>
              </a:lnSpc>
              <a:buSzPct val="100000"/>
              <a:buFontTx/>
              <a:buAutoNum type="arabicPeriod" startAt="1"/>
            </a:pPr>
            <a:r>
              <a:rPr lang="en-US" sz="2000" dirty="0">
                <a:solidFill>
                  <a:srgbClr val="12161D"/>
                </a:solidFill>
                <a:latin typeface="IBM Plex Sans" pitchFamily="34" charset="0"/>
                <a:ea typeface="IBM Plex Sans" pitchFamily="34" charset="-122"/>
                <a:cs typeface="IBM Plex Sans" pitchFamily="34" charset="-120"/>
              </a:rPr>
              <a:t>Describe the test in plain English</a:t>
            </a:r>
            <a:endParaRPr lang="en-US" sz="2000" dirty="0"/>
          </a:p>
          <a:p>
            <a:pPr algn="l" marL="281484" indent="-281484">
              <a:lnSpc>
                <a:spcPts val="3200"/>
              </a:lnSpc>
              <a:buSzPct val="100000"/>
              <a:buFontTx/>
              <a:buAutoNum type="arabicPeriod" startAt="1"/>
            </a:pPr>
            <a:r>
              <a:rPr lang="en-US" sz="2000" dirty="0">
                <a:solidFill>
                  <a:srgbClr val="12161D"/>
                </a:solidFill>
                <a:latin typeface="IBM Plex Sans" pitchFamily="34" charset="0"/>
                <a:ea typeface="IBM Plex Sans" pitchFamily="34" charset="-122"/>
                <a:cs typeface="IBM Plex Sans" pitchFamily="34" charset="-120"/>
              </a:rPr>
              <a:t>Confirm the highlighted faces</a:t>
            </a:r>
            <a:endParaRPr lang="en-US" sz="2000" dirty="0"/>
          </a:p>
          <a:p>
            <a:pPr algn="l" marL="281484" indent="-281484">
              <a:lnSpc>
                <a:spcPts val="3200"/>
              </a:lnSpc>
              <a:buSzPct val="100000"/>
              <a:buFontTx/>
              <a:buAutoNum type="arabicPeriod" startAt="1"/>
            </a:pPr>
            <a:r>
              <a:rPr lang="en-US" sz="2000" dirty="0">
                <a:solidFill>
                  <a:srgbClr val="12161D"/>
                </a:solidFill>
                <a:latin typeface="IBM Plex Sans" pitchFamily="34" charset="0"/>
                <a:ea typeface="IBM Plex Sans" pitchFamily="34" charset="-122"/>
                <a:cs typeface="IBM Plex Sans" pitchFamily="34" charset="-120"/>
              </a:rPr>
              <a:t>Run Ansys, read the safety factor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76908"/>
          </a:xfrm>
          <a:prstGeom prst="rect">
            <a:avLst/>
          </a:prstGeom>
          <a:noFill/>
          <a:ln/>
        </p:spPr>
        <p:txBody>
          <a:bodyPr wrap="square" lIns="0" tIns="0" rIns="0" bIns="0" rtlCol="0" anchor="t">
            <a:normAutofit/>
          </a:bodyPr>
          <a:lstStyle/>
          <a:p>
            <a:pPr algn="l" indent="0" marL="0">
              <a:lnSpc>
                <a:spcPts val="3762"/>
              </a:lnSpc>
              <a:buNone/>
            </a:pPr>
            <a:r>
              <a:rPr lang="en-US" sz="3420" b="1" i="0" dirty="0">
                <a:solidFill>
                  <a:srgbClr val="12161D"/>
                </a:solidFill>
                <a:latin typeface="Rubik" pitchFamily="34" charset="0"/>
                <a:ea typeface="Rubik" pitchFamily="34" charset="-122"/>
                <a:cs typeface="Rubik" pitchFamily="34" charset="-120"/>
              </a:rPr>
              <a:t>We checked the answer against a hand calculation</a:t>
            </a:r>
            <a:endParaRPr lang="en-US" sz="3420" dirty="0"/>
          </a:p>
        </p:txBody>
      </p:sp>
      <p:sp>
        <p:nvSpPr>
          <p:cNvPr id="3" name="Shape 1"/>
          <p:cNvSpPr/>
          <p:nvPr/>
        </p:nvSpPr>
        <p:spPr>
          <a:xfrm>
            <a:off x="815975" y="2021483"/>
            <a:ext cx="6216650" cy="1509018"/>
          </a:xfrm>
          <a:prstGeom prst="roundRect">
            <a:avLst>
              <a:gd name="adj" fmla="val 8206"/>
            </a:avLst>
          </a:prstGeom>
          <a:solidFill>
            <a:srgbClr val="FBFAF7"/>
          </a:solidFill>
          <a:ln w="6350">
            <a:solidFill>
              <a:srgbClr val="D9D6CE"/>
            </a:solidFill>
            <a:prstDash val="solid"/>
          </a:ln>
        </p:spPr>
      </p:sp>
      <p:sp>
        <p:nvSpPr>
          <p:cNvPr id="4" name="Text 2"/>
          <p:cNvSpPr/>
          <p:nvPr/>
        </p:nvSpPr>
        <p:spPr>
          <a:xfrm>
            <a:off x="1022350" y="2227858"/>
            <a:ext cx="5978017" cy="278011"/>
          </a:xfrm>
          <a:prstGeom prst="rect">
            <a:avLst/>
          </a:prstGeom>
          <a:noFill/>
          <a:ln/>
        </p:spPr>
        <p:txBody>
          <a:bodyPr wrap="square" lIns="0" tIns="0" rIns="0" bIns="0" rtlCol="0" anchor="t">
            <a:normAutofit/>
          </a:bodyPr>
          <a:lstStyle/>
          <a:p>
            <a:pPr algn="l" indent="0" marL="0">
              <a:lnSpc>
                <a:spcPts val="2018"/>
              </a:lnSpc>
              <a:buNone/>
            </a:pPr>
            <a:r>
              <a:rPr lang="en-US" sz="1682" b="1" dirty="0">
                <a:solidFill>
                  <a:srgbClr val="B5530F"/>
                </a:solidFill>
                <a:latin typeface="Rubik" pitchFamily="34" charset="0"/>
                <a:ea typeface="Rubik" pitchFamily="34" charset="-122"/>
                <a:cs typeface="Rubik" pitchFamily="34" charset="-120"/>
              </a:rPr>
              <a:t>Tip deflection, under 1% apart</a:t>
            </a:r>
            <a:endParaRPr lang="en-US" sz="1682" dirty="0"/>
          </a:p>
        </p:txBody>
      </p:sp>
      <p:sp>
        <p:nvSpPr>
          <p:cNvPr id="5" name="Text 3"/>
          <p:cNvSpPr/>
          <p:nvPr/>
        </p:nvSpPr>
        <p:spPr>
          <a:xfrm>
            <a:off x="1022350" y="2556669"/>
            <a:ext cx="2832037" cy="538857"/>
          </a:xfrm>
          <a:prstGeom prst="rect">
            <a:avLst/>
          </a:prstGeom>
          <a:noFill/>
          <a:ln/>
        </p:spPr>
        <p:txBody>
          <a:bodyPr wrap="square" lIns="0" tIns="0" rIns="0" bIns="0" rtlCol="0" anchor="t">
            <a:normAutofit/>
          </a:bodyPr>
          <a:lstStyle/>
          <a:p>
            <a:pPr algn="l" indent="0" marL="0">
              <a:lnSpc>
                <a:spcPts val="4070"/>
              </a:lnSpc>
              <a:buNone/>
            </a:pPr>
            <a:r>
              <a:rPr lang="en-US" sz="3700" b="1" dirty="0">
                <a:solidFill>
                  <a:srgbClr val="12161D"/>
                </a:solidFill>
                <a:latin typeface="Rubik" pitchFamily="34" charset="0"/>
                <a:ea typeface="Rubik" pitchFamily="34" charset="-122"/>
                <a:cs typeface="Rubik" pitchFamily="34" charset="-120"/>
              </a:rPr>
              <a:t>1.85 mm</a:t>
            </a:r>
            <a:endParaRPr lang="en-US" sz="3700" dirty="0"/>
          </a:p>
        </p:txBody>
      </p:sp>
      <p:sp>
        <p:nvSpPr>
          <p:cNvPr id="6" name="Text 4"/>
          <p:cNvSpPr/>
          <p:nvPr/>
        </p:nvSpPr>
        <p:spPr>
          <a:xfrm>
            <a:off x="1022350" y="3095526"/>
            <a:ext cx="2832037" cy="25400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A5260"/>
                </a:solidFill>
                <a:latin typeface="IBM Plex Sans" pitchFamily="34" charset="0"/>
                <a:ea typeface="IBM Plex Sans" pitchFamily="34" charset="-122"/>
                <a:cs typeface="IBM Plex Sans" pitchFamily="34" charset="-120"/>
              </a:rPr>
              <a:t>Ansys</a:t>
            </a:r>
            <a:endParaRPr lang="en-US" sz="1299" dirty="0"/>
          </a:p>
        </p:txBody>
      </p:sp>
      <p:sp>
        <p:nvSpPr>
          <p:cNvPr id="7" name="Text 5"/>
          <p:cNvSpPr/>
          <p:nvPr/>
        </p:nvSpPr>
        <p:spPr>
          <a:xfrm>
            <a:off x="4076700" y="2556669"/>
            <a:ext cx="2832037" cy="538857"/>
          </a:xfrm>
          <a:prstGeom prst="rect">
            <a:avLst/>
          </a:prstGeom>
          <a:noFill/>
          <a:ln/>
        </p:spPr>
        <p:txBody>
          <a:bodyPr wrap="square" lIns="0" tIns="0" rIns="0" bIns="0" rtlCol="0" anchor="t">
            <a:normAutofit/>
          </a:bodyPr>
          <a:lstStyle/>
          <a:p>
            <a:pPr algn="l" indent="0" marL="0">
              <a:lnSpc>
                <a:spcPts val="4070"/>
              </a:lnSpc>
              <a:buNone/>
            </a:pPr>
            <a:r>
              <a:rPr lang="en-US" sz="3700" b="1" dirty="0">
                <a:solidFill>
                  <a:srgbClr val="12161D"/>
                </a:solidFill>
                <a:latin typeface="Rubik" pitchFamily="34" charset="0"/>
                <a:ea typeface="Rubik" pitchFamily="34" charset="-122"/>
                <a:cs typeface="Rubik" pitchFamily="34" charset="-120"/>
              </a:rPr>
              <a:t>1.86 mm</a:t>
            </a:r>
            <a:endParaRPr lang="en-US" sz="3700" dirty="0"/>
          </a:p>
        </p:txBody>
      </p:sp>
      <p:sp>
        <p:nvSpPr>
          <p:cNvPr id="8" name="Text 6"/>
          <p:cNvSpPr/>
          <p:nvPr/>
        </p:nvSpPr>
        <p:spPr>
          <a:xfrm>
            <a:off x="4076700" y="3095526"/>
            <a:ext cx="2832037" cy="25400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A5260"/>
                </a:solidFill>
                <a:latin typeface="IBM Plex Sans" pitchFamily="34" charset="0"/>
                <a:ea typeface="IBM Plex Sans" pitchFamily="34" charset="-122"/>
                <a:cs typeface="IBM Plex Sans" pitchFamily="34" charset="-120"/>
              </a:rPr>
              <a:t>Beam theory</a:t>
            </a:r>
            <a:endParaRPr lang="en-US" sz="1299" dirty="0"/>
          </a:p>
        </p:txBody>
      </p:sp>
      <p:sp>
        <p:nvSpPr>
          <p:cNvPr id="9" name="Shape 7"/>
          <p:cNvSpPr/>
          <p:nvPr/>
        </p:nvSpPr>
        <p:spPr>
          <a:xfrm>
            <a:off x="815975" y="3689251"/>
            <a:ext cx="6216650" cy="1509018"/>
          </a:xfrm>
          <a:prstGeom prst="roundRect">
            <a:avLst>
              <a:gd name="adj" fmla="val 8206"/>
            </a:avLst>
          </a:prstGeom>
          <a:solidFill>
            <a:srgbClr val="FBFAF7"/>
          </a:solidFill>
          <a:ln w="6350">
            <a:solidFill>
              <a:srgbClr val="D9D6CE"/>
            </a:solidFill>
            <a:prstDash val="solid"/>
          </a:ln>
        </p:spPr>
      </p:sp>
      <p:sp>
        <p:nvSpPr>
          <p:cNvPr id="10" name="Text 8"/>
          <p:cNvSpPr/>
          <p:nvPr/>
        </p:nvSpPr>
        <p:spPr>
          <a:xfrm>
            <a:off x="1022350" y="3895626"/>
            <a:ext cx="5978017" cy="278011"/>
          </a:xfrm>
          <a:prstGeom prst="rect">
            <a:avLst/>
          </a:prstGeom>
          <a:noFill/>
          <a:ln/>
        </p:spPr>
        <p:txBody>
          <a:bodyPr wrap="square" lIns="0" tIns="0" rIns="0" bIns="0" rtlCol="0" anchor="t">
            <a:normAutofit/>
          </a:bodyPr>
          <a:lstStyle/>
          <a:p>
            <a:pPr algn="l" indent="0" marL="0">
              <a:lnSpc>
                <a:spcPts val="2018"/>
              </a:lnSpc>
              <a:buNone/>
            </a:pPr>
            <a:r>
              <a:rPr lang="en-US" sz="1682" b="1" dirty="0">
                <a:solidFill>
                  <a:srgbClr val="B5530F"/>
                </a:solidFill>
                <a:latin typeface="Rubik" pitchFamily="34" charset="0"/>
                <a:ea typeface="Rubik" pitchFamily="34" charset="-122"/>
                <a:cs typeface="Rubik" pitchFamily="34" charset="-120"/>
              </a:rPr>
              <a:t>Peak stress, about 3% apart</a:t>
            </a:r>
            <a:endParaRPr lang="en-US" sz="1682" dirty="0"/>
          </a:p>
        </p:txBody>
      </p:sp>
      <p:sp>
        <p:nvSpPr>
          <p:cNvPr id="11" name="Text 9"/>
          <p:cNvSpPr/>
          <p:nvPr/>
        </p:nvSpPr>
        <p:spPr>
          <a:xfrm>
            <a:off x="1022350" y="4224437"/>
            <a:ext cx="2832037" cy="538857"/>
          </a:xfrm>
          <a:prstGeom prst="rect">
            <a:avLst/>
          </a:prstGeom>
          <a:noFill/>
          <a:ln/>
        </p:spPr>
        <p:txBody>
          <a:bodyPr wrap="square" lIns="0" tIns="0" rIns="0" bIns="0" rtlCol="0" anchor="t">
            <a:normAutofit/>
          </a:bodyPr>
          <a:lstStyle/>
          <a:p>
            <a:pPr algn="l" indent="0" marL="0">
              <a:lnSpc>
                <a:spcPts val="4070"/>
              </a:lnSpc>
              <a:buNone/>
            </a:pPr>
            <a:r>
              <a:rPr lang="en-US" sz="3700" b="1" dirty="0">
                <a:solidFill>
                  <a:srgbClr val="12161D"/>
                </a:solidFill>
                <a:latin typeface="Rubik" pitchFamily="34" charset="0"/>
                <a:ea typeface="Rubik" pitchFamily="34" charset="-122"/>
                <a:cs typeface="Rubik" pitchFamily="34" charset="-120"/>
              </a:rPr>
              <a:t>93 MPa</a:t>
            </a:r>
            <a:endParaRPr lang="en-US" sz="3700" dirty="0"/>
          </a:p>
        </p:txBody>
      </p:sp>
      <p:sp>
        <p:nvSpPr>
          <p:cNvPr id="12" name="Text 10"/>
          <p:cNvSpPr/>
          <p:nvPr/>
        </p:nvSpPr>
        <p:spPr>
          <a:xfrm>
            <a:off x="1022350" y="4763294"/>
            <a:ext cx="2832037" cy="25400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A5260"/>
                </a:solidFill>
                <a:latin typeface="IBM Plex Sans" pitchFamily="34" charset="0"/>
                <a:ea typeface="IBM Plex Sans" pitchFamily="34" charset="-122"/>
                <a:cs typeface="IBM Plex Sans" pitchFamily="34" charset="-120"/>
              </a:rPr>
              <a:t>Ansys</a:t>
            </a:r>
            <a:endParaRPr lang="en-US" sz="1299" dirty="0"/>
          </a:p>
        </p:txBody>
      </p:sp>
      <p:sp>
        <p:nvSpPr>
          <p:cNvPr id="13" name="Text 11"/>
          <p:cNvSpPr/>
          <p:nvPr/>
        </p:nvSpPr>
        <p:spPr>
          <a:xfrm>
            <a:off x="4076700" y="4224437"/>
            <a:ext cx="2832037" cy="538857"/>
          </a:xfrm>
          <a:prstGeom prst="rect">
            <a:avLst/>
          </a:prstGeom>
          <a:noFill/>
          <a:ln/>
        </p:spPr>
        <p:txBody>
          <a:bodyPr wrap="square" lIns="0" tIns="0" rIns="0" bIns="0" rtlCol="0" anchor="t">
            <a:normAutofit/>
          </a:bodyPr>
          <a:lstStyle/>
          <a:p>
            <a:pPr algn="l" indent="0" marL="0">
              <a:lnSpc>
                <a:spcPts val="4070"/>
              </a:lnSpc>
              <a:buNone/>
            </a:pPr>
            <a:r>
              <a:rPr lang="en-US" sz="3700" b="1" dirty="0">
                <a:solidFill>
                  <a:srgbClr val="12161D"/>
                </a:solidFill>
                <a:latin typeface="Rubik" pitchFamily="34" charset="0"/>
                <a:ea typeface="Rubik" pitchFamily="34" charset="-122"/>
                <a:cs typeface="Rubik" pitchFamily="34" charset="-120"/>
              </a:rPr>
              <a:t>96 MPa</a:t>
            </a:r>
            <a:endParaRPr lang="en-US" sz="3700" dirty="0"/>
          </a:p>
        </p:txBody>
      </p:sp>
      <p:sp>
        <p:nvSpPr>
          <p:cNvPr id="14" name="Text 12"/>
          <p:cNvSpPr/>
          <p:nvPr/>
        </p:nvSpPr>
        <p:spPr>
          <a:xfrm>
            <a:off x="4076700" y="4763294"/>
            <a:ext cx="2832037" cy="25400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A5260"/>
                </a:solidFill>
                <a:latin typeface="IBM Plex Sans" pitchFamily="34" charset="0"/>
                <a:ea typeface="IBM Plex Sans" pitchFamily="34" charset="-122"/>
                <a:cs typeface="IBM Plex Sans" pitchFamily="34" charset="-120"/>
              </a:rPr>
              <a:t>Beam theory</a:t>
            </a:r>
            <a:endParaRPr lang="en-US" sz="1299" dirty="0"/>
          </a:p>
        </p:txBody>
      </p:sp>
      <p:sp>
        <p:nvSpPr>
          <p:cNvPr id="15" name="Text 13"/>
          <p:cNvSpPr/>
          <p:nvPr/>
        </p:nvSpPr>
        <p:spPr>
          <a:xfrm>
            <a:off x="812800" y="5353844"/>
            <a:ext cx="6409690" cy="716756"/>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A5260"/>
                </a:solidFill>
                <a:latin typeface="IBM Plex Sans" pitchFamily="34" charset="0"/>
                <a:ea typeface="IBM Plex Sans" pitchFamily="34" charset="-122"/>
                <a:cs typeface="IBM Plex Sans" pitchFamily="34" charset="-120"/>
              </a:rPr>
              <a:t>6061-T6 aluminum beam, 100 x 5 x 5 mm, 20 N at the free end, 31,594 mesh blocks. Stress is read away from the fixed end, where a rigid support overstates it (109 MPa at the edge).</a:t>
            </a:r>
            <a:endParaRPr lang="en-US" sz="1299" dirty="0"/>
          </a:p>
        </p:txBody>
      </p:sp>
      <p:pic>
        <p:nvPicPr>
          <p:cNvPr id="16" name="Image 0" descr="Stress colors on the cantilever beam in SimForge, red at the fixed end and blue at the free end">    </p:cNvPr>
          <p:cNvPicPr>
            <a:picLocks noChangeAspect="1"/>
          </p:cNvPicPr>
          <p:nvPr/>
        </p:nvPicPr>
        <p:blipFill>
          <a:blip r:embed="rId1"/>
          <a:srcRect l="0" r="0" t="77" b="77"/>
          <a:stretch/>
        </p:blipFill>
        <p:spPr>
          <a:xfrm>
            <a:off x="7442200" y="2018308"/>
            <a:ext cx="3937000" cy="3175000"/>
          </a:xfrm>
          <a:prstGeom prst="roundRect">
            <a:avLst>
              <a:gd name="adj" fmla="val 4800"/>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1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0438"/>
          </a:xfrm>
          <a:prstGeom prst="rect">
            <a:avLst/>
          </a:prstGeom>
          <a:noFill/>
          <a:ln/>
        </p:spPr>
        <p:txBody>
          <a:bodyPr wrap="square" lIns="0" tIns="0" rIns="0" bIns="0" rtlCol="0" anchor="t">
            <a:normAutofit/>
          </a:bodyPr>
          <a:lstStyle/>
          <a:p>
            <a:pPr algn="l" indent="0" marL="0">
              <a:lnSpc>
                <a:spcPts val="3663"/>
              </a:lnSpc>
              <a:buNone/>
            </a:pPr>
            <a:r>
              <a:rPr lang="en-US" sz="3330" b="1" i="0" dirty="0">
                <a:solidFill>
                  <a:srgbClr val="F2F0EA"/>
                </a:solidFill>
                <a:latin typeface="Rubik" pitchFamily="34" charset="0"/>
                <a:ea typeface="Rubik" pitchFamily="34" charset="-122"/>
                <a:cs typeface="Rubik" pitchFamily="34" charset="-120"/>
              </a:rPr>
              <a:t>The AI never decides the verdict</a:t>
            </a:r>
            <a:endParaRPr lang="en-US" sz="3330" dirty="0"/>
          </a:p>
        </p:txBody>
      </p:sp>
      <p:sp>
        <p:nvSpPr>
          <p:cNvPr id="3" name="Shape 1"/>
          <p:cNvSpPr/>
          <p:nvPr/>
        </p:nvSpPr>
        <p:spPr>
          <a:xfrm>
            <a:off x="815975" y="1535013"/>
            <a:ext cx="3414117" cy="1653977"/>
          </a:xfrm>
          <a:prstGeom prst="roundRect">
            <a:avLst>
              <a:gd name="adj" fmla="val 7487"/>
            </a:avLst>
          </a:prstGeom>
          <a:solidFill>
            <a:srgbClr val="1C222C"/>
          </a:solidFill>
          <a:ln w="6350">
            <a:solidFill>
              <a:srgbClr val="2C3441"/>
            </a:solidFill>
            <a:prstDash val="solid"/>
          </a:ln>
        </p:spPr>
      </p:sp>
      <p:sp>
        <p:nvSpPr>
          <p:cNvPr id="4" name="Text 2"/>
          <p:cNvSpPr/>
          <p:nvPr/>
        </p:nvSpPr>
        <p:spPr>
          <a:xfrm>
            <a:off x="1022350" y="1741388"/>
            <a:ext cx="3091408" cy="298549"/>
          </a:xfrm>
          <a:prstGeom prst="rect">
            <a:avLst/>
          </a:prstGeom>
          <a:noFill/>
          <a:ln/>
        </p:spPr>
        <p:txBody>
          <a:bodyPr wrap="square" lIns="0" tIns="0" rIns="0" bIns="0" rtlCol="0" anchor="t">
            <a:normAutofit/>
          </a:bodyPr>
          <a:lstStyle/>
          <a:p>
            <a:pPr algn="l" indent="0" marL="0">
              <a:lnSpc>
                <a:spcPts val="2168"/>
              </a:lnSpc>
              <a:buNone/>
            </a:pPr>
            <a:r>
              <a:rPr lang="en-US" sz="1806" b="1" dirty="0">
                <a:solidFill>
                  <a:srgbClr val="E8873A"/>
                </a:solidFill>
                <a:latin typeface="Rubik" pitchFamily="34" charset="0"/>
                <a:ea typeface="Rubik" pitchFamily="34" charset="-122"/>
                <a:cs typeface="Rubik" pitchFamily="34" charset="-120"/>
              </a:rPr>
              <a:t>The AI picks</a:t>
            </a:r>
            <a:endParaRPr lang="en-US" sz="1806" dirty="0"/>
          </a:p>
        </p:txBody>
      </p:sp>
      <p:sp>
        <p:nvSpPr>
          <p:cNvPr id="5" name="Text 3"/>
          <p:cNvSpPr/>
          <p:nvPr/>
        </p:nvSpPr>
        <p:spPr>
          <a:xfrm>
            <a:off x="1022350" y="2090738"/>
            <a:ext cx="3091408" cy="917277"/>
          </a:xfrm>
          <a:prstGeom prst="rect">
            <a:avLst/>
          </a:prstGeom>
          <a:noFill/>
          <a:ln/>
        </p:spPr>
        <p:txBody>
          <a:bodyPr wrap="square" lIns="0" tIns="0" rIns="0" bIns="0" rtlCol="0" anchor="t">
            <a:normAutofit/>
          </a:bodyPr>
          <a:lstStyle/>
          <a:p>
            <a:pPr algn="l" indent="0" marL="0">
              <a:lnSpc>
                <a:spcPts val="1752"/>
              </a:lnSpc>
              <a:buNone/>
            </a:pPr>
            <a:r>
              <a:rPr lang="en-US" sz="1251" dirty="0">
                <a:solidFill>
                  <a:srgbClr val="B8C0CC"/>
                </a:solidFill>
                <a:latin typeface="IBM Plex Sans" pitchFamily="34" charset="0"/>
                <a:ea typeface="IBM Plex Sans" pitchFamily="34" charset="-122"/>
                <a:cs typeface="IBM Plex Sans" pitchFamily="34" charset="-120"/>
              </a:rPr>
              <a:t>Faces, a load direction and a starting material (flagged "check it"), plus the numbers you wrote. Gemini 3.8 Flash, with 3.5 Flash-Lite as backup.</a:t>
            </a:r>
            <a:endParaRPr lang="en-US" sz="1251" dirty="0"/>
          </a:p>
        </p:txBody>
      </p:sp>
      <p:sp>
        <p:nvSpPr>
          <p:cNvPr id="6" name="Shape 4"/>
          <p:cNvSpPr/>
          <p:nvPr/>
        </p:nvSpPr>
        <p:spPr>
          <a:xfrm>
            <a:off x="4388842" y="1535013"/>
            <a:ext cx="3414216" cy="1653977"/>
          </a:xfrm>
          <a:prstGeom prst="roundRect">
            <a:avLst>
              <a:gd name="adj" fmla="val 7487"/>
            </a:avLst>
          </a:prstGeom>
          <a:solidFill>
            <a:srgbClr val="1C222C"/>
          </a:solidFill>
          <a:ln w="6350">
            <a:solidFill>
              <a:srgbClr val="2C3441"/>
            </a:solidFill>
            <a:prstDash val="solid"/>
          </a:ln>
        </p:spPr>
      </p:sp>
      <p:sp>
        <p:nvSpPr>
          <p:cNvPr id="7" name="Text 5"/>
          <p:cNvSpPr/>
          <p:nvPr/>
        </p:nvSpPr>
        <p:spPr>
          <a:xfrm>
            <a:off x="4595217" y="1741388"/>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873A"/>
                </a:solidFill>
                <a:latin typeface="Rubik" pitchFamily="34" charset="0"/>
                <a:ea typeface="Rubik" pitchFamily="34" charset="-122"/>
                <a:cs typeface="Rubik" pitchFamily="34" charset="-120"/>
              </a:rPr>
              <a:t>Ansys solves</a:t>
            </a:r>
            <a:endParaRPr lang="en-US" sz="2000" dirty="0"/>
          </a:p>
        </p:txBody>
      </p:sp>
      <p:sp>
        <p:nvSpPr>
          <p:cNvPr id="8" name="Text 6"/>
          <p:cNvSpPr/>
          <p:nvPr/>
        </p:nvSpPr>
        <p:spPr>
          <a:xfrm>
            <a:off x="4595217" y="2122388"/>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0CC"/>
                </a:solidFill>
                <a:latin typeface="IBM Plex Sans" pitchFamily="34" charset="0"/>
                <a:ea typeface="IBM Plex Sans" pitchFamily="34" charset="-122"/>
                <a:cs typeface="IBM Plex Sans" pitchFamily="34" charset="-120"/>
              </a:rPr>
              <a:t>The stress and the safety factor come from the solver.</a:t>
            </a:r>
            <a:endParaRPr lang="en-US" sz="1400" dirty="0"/>
          </a:p>
        </p:txBody>
      </p:sp>
      <p:sp>
        <p:nvSpPr>
          <p:cNvPr id="9" name="Shape 7"/>
          <p:cNvSpPr/>
          <p:nvPr/>
        </p:nvSpPr>
        <p:spPr>
          <a:xfrm>
            <a:off x="7961809" y="1535013"/>
            <a:ext cx="3414216" cy="1653977"/>
          </a:xfrm>
          <a:prstGeom prst="roundRect">
            <a:avLst>
              <a:gd name="adj" fmla="val 7487"/>
            </a:avLst>
          </a:prstGeom>
          <a:solidFill>
            <a:srgbClr val="1C222C"/>
          </a:solidFill>
          <a:ln w="6350">
            <a:solidFill>
              <a:srgbClr val="2C3441"/>
            </a:solidFill>
            <a:prstDash val="solid"/>
          </a:ln>
        </p:spPr>
      </p:sp>
      <p:sp>
        <p:nvSpPr>
          <p:cNvPr id="10" name="Text 8"/>
          <p:cNvSpPr/>
          <p:nvPr/>
        </p:nvSpPr>
        <p:spPr>
          <a:xfrm>
            <a:off x="8168184" y="1741388"/>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873A"/>
                </a:solidFill>
                <a:latin typeface="Rubik" pitchFamily="34" charset="0"/>
                <a:ea typeface="Rubik" pitchFamily="34" charset="-122"/>
                <a:cs typeface="Rubik" pitchFamily="34" charset="-120"/>
              </a:rPr>
              <a:t>Sources supply</a:t>
            </a:r>
            <a:endParaRPr lang="en-US" sz="2000" dirty="0"/>
          </a:p>
        </p:txBody>
      </p:sp>
      <p:sp>
        <p:nvSpPr>
          <p:cNvPr id="11" name="Text 9"/>
          <p:cNvSpPr/>
          <p:nvPr/>
        </p:nvSpPr>
        <p:spPr>
          <a:xfrm>
            <a:off x="8168184" y="2122388"/>
            <a:ext cx="309151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0CC"/>
                </a:solidFill>
                <a:latin typeface="IBM Plex Sans" pitchFamily="34" charset="0"/>
                <a:ea typeface="IBM Plex Sans" pitchFamily="34" charset="-122"/>
                <a:cs typeface="IBM Plex Sans" pitchFamily="34" charset="-120"/>
              </a:rPr>
              <a:t>Gravity and outside pressure from NASA. Material values from datasheets.</a:t>
            </a:r>
            <a:endParaRPr lang="en-US" sz="1400" dirty="0"/>
          </a:p>
        </p:txBody>
      </p:sp>
      <p:pic>
        <p:nvPicPr>
          <p:cNvPr id="12" name="Image 0" descr="SimForge result card: safety factor 2.52, 93 MPa and 2.96 away from the supports, the stress legend, and the crew consequence line">    </p:cNvPr>
          <p:cNvPicPr>
            <a:picLocks noChangeAspect="1"/>
          </p:cNvPicPr>
          <p:nvPr/>
        </p:nvPicPr>
        <p:blipFill>
          <a:blip r:embed="rId1"/>
          <a:stretch>
            <a:fillRect/>
          </a:stretch>
        </p:blipFill>
        <p:spPr>
          <a:xfrm>
            <a:off x="2525736" y="3446165"/>
            <a:ext cx="7140528" cy="2395835"/>
          </a:xfrm>
          <a:prstGeom prst="rect">
            <a:avLst/>
          </a:prstGeom>
        </p:spPr>
      </p:pic>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AAA"/>
                </a:solidFill>
                <a:latin typeface="IBM Plex Sans" pitchFamily="34" charset="0"/>
                <a:ea typeface="IBM Plex Sans" pitchFamily="34" charset="-122"/>
                <a:cs typeface="IBM Plex Sans" pitchFamily="34" charset="-120"/>
              </a:rPr>
              <a:t>Sources: NASA-STD-5001B · NASA-STD-3001 Technical Brief · NASA/TP-2010-216134 · NASA planetary fact sheets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61D"/>
                </a:solidFill>
                <a:latin typeface="Rubik" pitchFamily="34" charset="0"/>
                <a:ea typeface="Rubik" pitchFamily="34" charset="-122"/>
                <a:cs typeface="Rubik" pitchFamily="34" charset="-120"/>
              </a:rPr>
              <a:t>Who it helps</a:t>
            </a:r>
            <a:endParaRPr lang="en-US" sz="3600" dirty="0"/>
          </a:p>
        </p:txBody>
      </p:sp>
      <p:sp>
        <p:nvSpPr>
          <p:cNvPr id="3" name="Shape 1"/>
          <p:cNvSpPr/>
          <p:nvPr/>
        </p:nvSpPr>
        <p:spPr>
          <a:xfrm>
            <a:off x="815975" y="1572816"/>
            <a:ext cx="4540250" cy="1171972"/>
          </a:xfrm>
          <a:prstGeom prst="roundRect">
            <a:avLst>
              <a:gd name="adj" fmla="val 10566"/>
            </a:avLst>
          </a:prstGeom>
          <a:solidFill>
            <a:srgbClr val="FBFAF7"/>
          </a:solidFill>
          <a:ln w="6350">
            <a:solidFill>
              <a:srgbClr val="D9D6CE"/>
            </a:solidFill>
            <a:prstDash val="solid"/>
          </a:ln>
        </p:spPr>
      </p:sp>
      <p:sp>
        <p:nvSpPr>
          <p:cNvPr id="4" name="Text 2"/>
          <p:cNvSpPr/>
          <p:nvPr/>
        </p:nvSpPr>
        <p:spPr>
          <a:xfrm>
            <a:off x="996950" y="1753791"/>
            <a:ext cx="430364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30F"/>
                </a:solidFill>
                <a:latin typeface="Rubik" pitchFamily="34" charset="0"/>
                <a:ea typeface="Rubik" pitchFamily="34" charset="-122"/>
                <a:cs typeface="Rubik" pitchFamily="34" charset="-120"/>
              </a:rPr>
              <a:t>Student and hobby teams</a:t>
            </a:r>
            <a:endParaRPr lang="en-US" sz="1800" dirty="0"/>
          </a:p>
        </p:txBody>
      </p:sp>
      <p:sp>
        <p:nvSpPr>
          <p:cNvPr id="5" name="Text 3"/>
          <p:cNvSpPr/>
          <p:nvPr/>
        </p:nvSpPr>
        <p:spPr>
          <a:xfrm>
            <a:off x="996950" y="2066131"/>
            <a:ext cx="430364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Check a design before building it, without learning simulation setup.</a:t>
            </a:r>
            <a:endParaRPr lang="en-US" sz="1400" dirty="0"/>
          </a:p>
        </p:txBody>
      </p:sp>
      <p:sp>
        <p:nvSpPr>
          <p:cNvPr id="6" name="Shape 4"/>
          <p:cNvSpPr/>
          <p:nvPr/>
        </p:nvSpPr>
        <p:spPr>
          <a:xfrm>
            <a:off x="815975" y="2878138"/>
            <a:ext cx="4540250" cy="1171972"/>
          </a:xfrm>
          <a:prstGeom prst="roundRect">
            <a:avLst>
              <a:gd name="adj" fmla="val 10566"/>
            </a:avLst>
          </a:prstGeom>
          <a:solidFill>
            <a:srgbClr val="FBFAF7"/>
          </a:solidFill>
          <a:ln w="6350">
            <a:solidFill>
              <a:srgbClr val="D9D6CE"/>
            </a:solidFill>
            <a:prstDash val="solid"/>
          </a:ln>
        </p:spPr>
      </p:sp>
      <p:sp>
        <p:nvSpPr>
          <p:cNvPr id="7" name="Text 5"/>
          <p:cNvSpPr/>
          <p:nvPr/>
        </p:nvSpPr>
        <p:spPr>
          <a:xfrm>
            <a:off x="996950" y="3059113"/>
            <a:ext cx="430364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30F"/>
                </a:solidFill>
                <a:latin typeface="Rubik" pitchFamily="34" charset="0"/>
                <a:ea typeface="Rubik" pitchFamily="34" charset="-122"/>
                <a:cs typeface="Rubik" pitchFamily="34" charset="-120"/>
              </a:rPr>
              <a:t>Small aerospace startups</a:t>
            </a:r>
            <a:endParaRPr lang="en-US" sz="1800" dirty="0"/>
          </a:p>
        </p:txBody>
      </p:sp>
      <p:sp>
        <p:nvSpPr>
          <p:cNvPr id="8" name="Text 6"/>
          <p:cNvSpPr/>
          <p:nvPr/>
        </p:nvSpPr>
        <p:spPr>
          <a:xfrm>
            <a:off x="996950" y="3371453"/>
            <a:ext cx="430364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Get a first stress answer in minutes, before booking an analyst.</a:t>
            </a:r>
            <a:endParaRPr lang="en-US" sz="1400" dirty="0"/>
          </a:p>
        </p:txBody>
      </p:sp>
      <p:sp>
        <p:nvSpPr>
          <p:cNvPr id="9" name="Shape 7"/>
          <p:cNvSpPr/>
          <p:nvPr/>
        </p:nvSpPr>
        <p:spPr>
          <a:xfrm>
            <a:off x="815975" y="4183459"/>
            <a:ext cx="4540250" cy="1171972"/>
          </a:xfrm>
          <a:prstGeom prst="roundRect">
            <a:avLst>
              <a:gd name="adj" fmla="val 10566"/>
            </a:avLst>
          </a:prstGeom>
          <a:solidFill>
            <a:srgbClr val="FBFAF7"/>
          </a:solidFill>
          <a:ln w="6350">
            <a:solidFill>
              <a:srgbClr val="D9D6CE"/>
            </a:solidFill>
            <a:prstDash val="solid"/>
          </a:ln>
        </p:spPr>
      </p:sp>
      <p:sp>
        <p:nvSpPr>
          <p:cNvPr id="10" name="Text 8"/>
          <p:cNvSpPr/>
          <p:nvPr/>
        </p:nvSpPr>
        <p:spPr>
          <a:xfrm>
            <a:off x="996950" y="4364434"/>
            <a:ext cx="430364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30F"/>
                </a:solidFill>
                <a:latin typeface="Rubik" pitchFamily="34" charset="0"/>
                <a:ea typeface="Rubik" pitchFamily="34" charset="-122"/>
                <a:cs typeface="Rubik" pitchFamily="34" charset="-120"/>
              </a:rPr>
              <a:t>Engineers new to simulation</a:t>
            </a:r>
            <a:endParaRPr lang="en-US" sz="1800" dirty="0"/>
          </a:p>
        </p:txBody>
      </p:sp>
      <p:sp>
        <p:nvSpPr>
          <p:cNvPr id="11" name="Text 9"/>
          <p:cNvSpPr/>
          <p:nvPr/>
        </p:nvSpPr>
        <p:spPr>
          <a:xfrm>
            <a:off x="996950" y="4676775"/>
            <a:ext cx="430364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Review the setup the copilot proposes instead of building it from scratch.</a:t>
            </a:r>
            <a:endParaRPr lang="en-US" sz="1400" dirty="0"/>
          </a:p>
        </p:txBody>
      </p:sp>
      <p:sp>
        <p:nvSpPr>
          <p:cNvPr id="12" name="Shape 10"/>
          <p:cNvSpPr/>
          <p:nvPr/>
        </p:nvSpPr>
        <p:spPr>
          <a:xfrm>
            <a:off x="5664200" y="1569641"/>
            <a:ext cx="5715000" cy="3536950"/>
          </a:xfrm>
          <a:prstGeom prst="roundRect">
            <a:avLst>
              <a:gd name="adj" fmla="val 3591"/>
            </a:avLst>
          </a:prstGeom>
          <a:solidFill>
            <a:srgbClr val="0F131B"/>
          </a:solidFill>
          <a:ln/>
        </p:spPr>
      </p:sp>
      <p:pic>
        <p:nvPicPr>
          <p:cNvPr id="13" name="Image 0" descr="The same L bracket under the same 30 kg load: safety factor 3.19 on the Moon, 1.38 on Mars">    </p:cNvPr>
          <p:cNvPicPr>
            <a:picLocks noChangeAspect="1"/>
          </p:cNvPicPr>
          <p:nvPr/>
        </p:nvPicPr>
        <p:blipFill>
          <a:blip r:embed="rId1"/>
          <a:srcRect l="0" r="0" t="-20" b="-20"/>
          <a:stretch/>
        </p:blipFill>
        <p:spPr>
          <a:xfrm>
            <a:off x="5664200" y="1569641"/>
            <a:ext cx="5715000" cy="3536950"/>
          </a:xfrm>
          <a:prstGeom prst="roundRect">
            <a:avLst>
              <a:gd name="adj" fmla="val 3591"/>
            </a:avLst>
          </a:prstGeom>
        </p:spPr>
      </p:pic>
      <p:sp>
        <p:nvSpPr>
          <p:cNvPr id="14" name="Text 11"/>
          <p:cNvSpPr/>
          <p:nvPr/>
        </p:nvSpPr>
        <p:spPr>
          <a:xfrm>
            <a:off x="5664200" y="5208191"/>
            <a:ext cx="58864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Same L bracket, same 30 kg load, same mesh. The Moon gives a safety factor of 3.19. On Mars the stress is 2.3 times higher, so the same part drops to 1.38, below our target.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800" y="1818779"/>
            <a:ext cx="5677154"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873A"/>
                </a:solidFill>
                <a:latin typeface="IBM Plex Sans" pitchFamily="34" charset="0"/>
                <a:ea typeface="IBM Plex Sans" pitchFamily="34" charset="-122"/>
                <a:cs typeface="IBM Plex Sans" pitchFamily="34" charset="-120"/>
              </a:rPr>
              <a:t>SIMFORGE · TEAM 97070</a:t>
            </a:r>
            <a:endParaRPr lang="en-US" sz="1400" dirty="0"/>
          </a:p>
        </p:txBody>
      </p:sp>
      <p:sp>
        <p:nvSpPr>
          <p:cNvPr id="3" name="Text 1"/>
          <p:cNvSpPr/>
          <p:nvPr>
            <p:ph type="title"/>
          </p:nvPr>
        </p:nvSpPr>
        <p:spPr>
          <a:xfrm>
            <a:off x="812800" y="2270820"/>
            <a:ext cx="5677154" cy="985441"/>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2F0EA"/>
                </a:solidFill>
                <a:latin typeface="Rubik" pitchFamily="34" charset="0"/>
                <a:ea typeface="Rubik" pitchFamily="34" charset="-122"/>
                <a:cs typeface="Rubik" pitchFamily="34" charset="-120"/>
              </a:rPr>
              <a:t>Thank you</a:t>
            </a:r>
            <a:endParaRPr lang="en-US" sz="7200" dirty="0"/>
          </a:p>
        </p:txBody>
      </p:sp>
      <p:sp>
        <p:nvSpPr>
          <p:cNvPr id="4" name="Text 2"/>
          <p:cNvSpPr/>
          <p:nvPr/>
        </p:nvSpPr>
        <p:spPr>
          <a:xfrm>
            <a:off x="812800" y="3434060"/>
            <a:ext cx="5677154"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8873A"/>
                </a:solidFill>
                <a:latin typeface="Rubik" pitchFamily="34" charset="0"/>
                <a:ea typeface="Rubik" pitchFamily="34" charset="-122"/>
                <a:cs typeface="Rubik" pitchFamily="34" charset="-120"/>
              </a:rPr>
              <a:t>Questions?</a:t>
            </a:r>
            <a:endParaRPr lang="en-US" sz="4000" dirty="0"/>
          </a:p>
        </p:txBody>
      </p:sp>
      <p:sp>
        <p:nvSpPr>
          <p:cNvPr id="5" name="Text 3"/>
          <p:cNvSpPr/>
          <p:nvPr/>
        </p:nvSpPr>
        <p:spPr>
          <a:xfrm>
            <a:off x="812800" y="4196060"/>
            <a:ext cx="5677154"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8C0CC"/>
                </a:solidFill>
                <a:latin typeface="IBM Plex Sans" pitchFamily="34" charset="0"/>
                <a:ea typeface="IBM Plex Sans" pitchFamily="34" charset="-122"/>
                <a:cs typeface="IBM Plex Sans" pitchFamily="34" charset="-120"/>
              </a:rPr>
              <a:t>Will this part hold on the Moon? Now you can ask in one sentence.</a:t>
            </a:r>
            <a:endParaRPr lang="en-US" sz="1800" dirty="0"/>
          </a:p>
        </p:txBody>
      </p:sp>
      <p:sp>
        <p:nvSpPr>
          <p:cNvPr id="6" name="Shape 4"/>
          <p:cNvSpPr/>
          <p:nvPr/>
        </p:nvSpPr>
        <p:spPr>
          <a:xfrm>
            <a:off x="6937375" y="1828205"/>
            <a:ext cx="4438650" cy="2998391"/>
          </a:xfrm>
          <a:prstGeom prst="roundRect">
            <a:avLst>
              <a:gd name="adj" fmla="val 4130"/>
            </a:avLst>
          </a:prstGeom>
          <a:solidFill>
            <a:srgbClr val="1C222C"/>
          </a:solidFill>
          <a:ln w="6350">
            <a:solidFill>
              <a:srgbClr val="2C3441"/>
            </a:solidFill>
            <a:prstDash val="solid"/>
          </a:ln>
        </p:spPr>
      </p:sp>
      <p:sp>
        <p:nvSpPr>
          <p:cNvPr id="7" name="Text 5"/>
          <p:cNvSpPr/>
          <p:nvPr/>
        </p:nvSpPr>
        <p:spPr>
          <a:xfrm>
            <a:off x="7194550" y="2085380"/>
            <a:ext cx="40420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873A"/>
                </a:solidFill>
                <a:latin typeface="Rubik" pitchFamily="34" charset="0"/>
                <a:ea typeface="Rubik" pitchFamily="34" charset="-122"/>
                <a:cs typeface="Rubik" pitchFamily="34" charset="-120"/>
              </a:rPr>
              <a:t>The team</a:t>
            </a:r>
            <a:endParaRPr lang="en-US" sz="1800" dirty="0"/>
          </a:p>
        </p:txBody>
      </p:sp>
      <p:sp>
        <p:nvSpPr>
          <p:cNvPr id="8" name="Text 6"/>
          <p:cNvSpPr/>
          <p:nvPr/>
        </p:nvSpPr>
        <p:spPr>
          <a:xfrm>
            <a:off x="7194550" y="2512020"/>
            <a:ext cx="404202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8C0CC"/>
                </a:solidFill>
                <a:latin typeface="IBM Plex Sans" pitchFamily="34" charset="0"/>
                <a:ea typeface="IBM Plex Sans" pitchFamily="34" charset="-122"/>
                <a:cs typeface="IBM Plex Sans" pitchFamily="34" charset="-120"/>
              </a:rPr>
              <a:t>Arav Gandhi, frontend, UX and backend</a:t>
            </a:r>
            <a:endParaRPr lang="en-US" sz="1400" dirty="0"/>
          </a:p>
        </p:txBody>
      </p:sp>
      <p:sp>
        <p:nvSpPr>
          <p:cNvPr id="9" name="Text 7"/>
          <p:cNvSpPr/>
          <p:nvPr/>
        </p:nvSpPr>
        <p:spPr>
          <a:xfrm>
            <a:off x="7194550" y="2931120"/>
            <a:ext cx="404202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8C0CC"/>
                </a:solidFill>
                <a:latin typeface="IBM Plex Sans" pitchFamily="34" charset="0"/>
                <a:ea typeface="IBM Plex Sans" pitchFamily="34" charset="-122"/>
                <a:cs typeface="IBM Plex Sans" pitchFamily="34" charset="-120"/>
              </a:rPr>
              <a:t>Braxton Anderson, frontend and backend</a:t>
            </a:r>
            <a:endParaRPr lang="en-US" sz="1400" dirty="0"/>
          </a:p>
        </p:txBody>
      </p:sp>
      <p:sp>
        <p:nvSpPr>
          <p:cNvPr id="10" name="Text 8"/>
          <p:cNvSpPr/>
          <p:nvPr/>
        </p:nvSpPr>
        <p:spPr>
          <a:xfrm>
            <a:off x="7194550" y="3350220"/>
            <a:ext cx="4042029"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8C0CC"/>
                </a:solidFill>
                <a:latin typeface="IBM Plex Sans" pitchFamily="34" charset="0"/>
                <a:ea typeface="IBM Plex Sans" pitchFamily="34" charset="-122"/>
                <a:cs typeface="IBM Plex Sans" pitchFamily="34" charset="-120"/>
              </a:rPr>
              <a:t>Amr Mohieldin and Jeremy Lin, backend assistants</a:t>
            </a:r>
            <a:endParaRPr lang="en-US" sz="1400" dirty="0"/>
          </a:p>
        </p:txBody>
      </p:sp>
      <p:sp>
        <p:nvSpPr>
          <p:cNvPr id="11" name="Text 9"/>
          <p:cNvSpPr/>
          <p:nvPr/>
        </p:nvSpPr>
        <p:spPr>
          <a:xfrm>
            <a:off x="7194550" y="4036020"/>
            <a:ext cx="4042029"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8C0CC"/>
                </a:solidFill>
                <a:latin typeface="IBM Plex Sans" pitchFamily="34" charset="0"/>
                <a:ea typeface="IBM Plex Sans" pitchFamily="34" charset="-122"/>
                <a:cs typeface="IBM Plex Sans" pitchFamily="34" charset="-120"/>
              </a:rPr>
              <a:t>Kevin Guo, pitch, presentation and team management</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AAA"/>
                </a:solidFill>
                <a:latin typeface="IBM Plex Sans" pitchFamily="34" charset="0"/>
                <a:ea typeface="IBM Plex Sans" pitchFamily="34" charset="-122"/>
                <a:cs typeface="IBM Plex Sans" pitchFamily="34" charset="-120"/>
              </a:rPr>
              <a:t>Built with TypeScript, React, three.js, Vite, Python, FastAPI, gmsh, Ansys MAPDL and the Gemini API</a:t>
            </a:r>
            <a:endParaRPr lang="en-US" sz="1200" dirty="0"/>
          </a:p>
        </p:txBody>
      </p:sp>
    </p:spTree>
  </p:cSld>
  <p:clrMapOvr>
    <a:masterClrMapping/>
  </p:clrMapOvr>
</p:sld>
</file>

<file path=ppt/theme/theme1.xml><?xml version="1.0" encoding="utf-8"?>
<a:theme xmlns:a="http://schemas.openxmlformats.org/drawingml/2006/main" name="SimForge Pitch Deck">
  <a:themeElements>
    <a:clrScheme name="SimForge Pitch Deck">
      <a:dk1>
        <a:srgbClr val="12161D"/>
      </a:dk1>
      <a:lt1>
        <a:srgbClr val="F2F0EA"/>
      </a:lt1>
      <a:dk2>
        <a:srgbClr val="282C32"/>
      </a:dk2>
      <a:lt2>
        <a:srgbClr val="BABAB7"/>
      </a:lt2>
      <a:accent1>
        <a:srgbClr val="E8873A"/>
      </a:accent1>
      <a:accent2>
        <a:srgbClr val="B5530F"/>
      </a:accent2>
      <a:accent3>
        <a:srgbClr val="B8C0CC"/>
      </a:accent3>
      <a:accent4>
        <a:srgbClr val="4A5260"/>
      </a:accent4>
      <a:accent5>
        <a:srgbClr val="8F9AAA"/>
      </a:accent5>
      <a:accent6>
        <a:srgbClr val="9AA0A6"/>
      </a:accent6>
      <a:hlink>
        <a:srgbClr val="0563C1"/>
      </a:hlink>
      <a:folHlink>
        <a:srgbClr val="954F72"/>
      </a:folHlink>
    </a:clrScheme>
    <a:fontScheme name="SimForge Pitch Deck">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SimForge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2026-10-25T03:39:32Z</dcterms:created>
  <dcterms:modified xsi:type="dcterms:W3CDTF">2026-10-25T03:39:32Z</dcterms:modified>
</cp:coreProperties>
</file>